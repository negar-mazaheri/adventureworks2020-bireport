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MiSans" charset="-122" pitchFamily="34"/>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7AD6F"/>
        </a:solidFill>
      </p:bgPr>
    </p:bg>
    <p:spTree>
      <p:nvGrpSpPr>
        <p:cNvPr id="1" name=""/>
        <p:cNvGrpSpPr/>
        <p:nvPr/>
      </p:nvGrpSpPr>
      <p:grpSpPr>
        <a:xfrm>
          <a:off x="0" y="0"/>
          <a:ext cx="0" cy="0"/>
          <a:chOff x="0" y="0"/>
          <a:chExt cx="0" cy="0"/>
        </a:xfrm>
      </p:grpSpPr>
      <p:pic>
        <p:nvPicPr>
          <p:cNvPr id="2" name="Image 0" descr="https://kimi-img.moonshot.cn/pub/slides/slides_tmpl/image/25-08-27-20:03:17-d2nf8198bjvh7rlj08tg.png">    </p:cNvPr>
          <p:cNvPicPr>
            <a:picLocks noChangeAspect="1"/>
          </p:cNvPicPr>
          <p:nvPr/>
        </p:nvPicPr>
        <p:blipFill>
          <a:blip r:embed="rId1"/>
          <a:srcRect l="5266" r="5667" t="24656" b="24531"/>
          <a:stretch/>
        </p:blipFill>
        <p:spPr>
          <a:xfrm>
            <a:off x="-184785" y="-172085"/>
            <a:ext cx="12554585" cy="7219950"/>
          </a:xfrm>
          <a:prstGeom prst="rect">
            <a:avLst/>
          </a:prstGeom>
        </p:spPr>
      </p:pic>
      <p:sp>
        <p:nvSpPr>
          <p:cNvPr id="3" name="Text 0"/>
          <p:cNvSpPr/>
          <p:nvPr/>
        </p:nvSpPr>
        <p:spPr>
          <a:xfrm>
            <a:off x="971550" y="2432050"/>
            <a:ext cx="10248900" cy="1975048"/>
          </a:xfrm>
          <a:prstGeom prst="rect">
            <a:avLst/>
          </a:prstGeom>
          <a:noFill/>
          <a:ln/>
        </p:spPr>
        <p:txBody>
          <a:bodyPr wrap="square" lIns="0" tIns="0" rIns="0" bIns="0" rtlCol="0" anchor="t">
            <a:spAutoFit/>
          </a:bodyPr>
          <a:lstStyle/>
          <a:p>
            <a:pPr algn="ctr" indent="0" marL="0">
              <a:lnSpc>
                <a:spcPct val="120000"/>
              </a:lnSpc>
              <a:buNone/>
            </a:pPr>
            <a:r>
              <a:rPr lang="en-US" sz="5400" b="1" dirty="0">
                <a:solidFill>
                  <a:srgbClr val="000000"/>
                </a:solidFill>
                <a:latin typeface="MiSans" pitchFamily="34" charset="0"/>
                <a:ea typeface="MiSans" pitchFamily="34" charset="-122"/>
                <a:cs typeface="MiSans" pitchFamily="34" charset="-120"/>
              </a:rPr>
              <a:t>Adventure Works 2020 BI Deep Dive</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4124325" y="1468755"/>
            <a:ext cx="2569454" cy="2569718"/>
          </a:xfrm>
          <a:prstGeom prst="ellipse">
            <a:avLst/>
          </a:prstGeom>
          <a:solidFill>
            <a:srgbClr val="D2E7D6"/>
          </a:solidFill>
          <a:ln/>
        </p:spPr>
      </p:sp>
      <p:sp>
        <p:nvSpPr>
          <p:cNvPr id="3" name="Text 1"/>
          <p:cNvSpPr/>
          <p:nvPr/>
        </p:nvSpPr>
        <p:spPr>
          <a:xfrm>
            <a:off x="4124325" y="1468755"/>
            <a:ext cx="2569454" cy="2569718"/>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Shape 2"/>
          <p:cNvSpPr/>
          <p:nvPr/>
        </p:nvSpPr>
        <p:spPr>
          <a:xfrm>
            <a:off x="6776534" y="1468755"/>
            <a:ext cx="2569454" cy="2569718"/>
          </a:xfrm>
          <a:prstGeom prst="ellipse">
            <a:avLst/>
          </a:prstGeom>
          <a:solidFill>
            <a:srgbClr val="D2E7D6"/>
          </a:solidFill>
          <a:ln/>
        </p:spPr>
      </p:sp>
      <p:sp>
        <p:nvSpPr>
          <p:cNvPr id="5" name="Text 3"/>
          <p:cNvSpPr/>
          <p:nvPr/>
        </p:nvSpPr>
        <p:spPr>
          <a:xfrm>
            <a:off x="6776534" y="1468755"/>
            <a:ext cx="2569454" cy="2569718"/>
          </a:xfrm>
          <a:prstGeom prst="rect">
            <a:avLst/>
          </a:prstGeom>
          <a:noFill/>
          <a:ln/>
        </p:spPr>
        <p:txBody>
          <a:bodyPr wrap="square" lIns="0" tIns="0" rIns="0" bIns="0" rtlCol="0" anchor="t"/>
          <a:lstStyle/>
          <a:p>
            <a:pPr indent="0" marL="0">
              <a:lnSpc>
                <a:spcPct val="100000"/>
              </a:lnSpc>
              <a:buNone/>
            </a:pPr>
            <a:endParaRPr lang="en-US" sz="1600" dirty="0"/>
          </a:p>
        </p:txBody>
      </p:sp>
      <p:sp>
        <p:nvSpPr>
          <p:cNvPr id="6" name="Shape 4"/>
          <p:cNvSpPr/>
          <p:nvPr/>
        </p:nvSpPr>
        <p:spPr>
          <a:xfrm>
            <a:off x="9428743" y="1468755"/>
            <a:ext cx="2569454" cy="2569718"/>
          </a:xfrm>
          <a:prstGeom prst="ellipse">
            <a:avLst/>
          </a:prstGeom>
          <a:solidFill>
            <a:srgbClr val="D2E7D6"/>
          </a:solidFill>
          <a:ln/>
        </p:spPr>
      </p:sp>
      <p:sp>
        <p:nvSpPr>
          <p:cNvPr id="7" name="Text 5"/>
          <p:cNvSpPr/>
          <p:nvPr/>
        </p:nvSpPr>
        <p:spPr>
          <a:xfrm>
            <a:off x="9428743" y="1468755"/>
            <a:ext cx="2569454" cy="2569718"/>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4063365" y="4087495"/>
            <a:ext cx="2569454" cy="2569718"/>
          </a:xfrm>
          <a:prstGeom prst="ellipse">
            <a:avLst/>
          </a:prstGeom>
          <a:solidFill>
            <a:srgbClr val="D2E7D6"/>
          </a:solidFill>
          <a:ln/>
        </p:spPr>
      </p:sp>
      <p:sp>
        <p:nvSpPr>
          <p:cNvPr id="9" name="Text 7"/>
          <p:cNvSpPr/>
          <p:nvPr/>
        </p:nvSpPr>
        <p:spPr>
          <a:xfrm>
            <a:off x="4063365" y="4087495"/>
            <a:ext cx="2569454" cy="2569718"/>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6715574" y="4087495"/>
            <a:ext cx="2569454" cy="2569718"/>
          </a:xfrm>
          <a:prstGeom prst="ellipse">
            <a:avLst/>
          </a:prstGeom>
          <a:solidFill>
            <a:srgbClr val="D2E7D6"/>
          </a:solidFill>
          <a:ln/>
        </p:spPr>
      </p:sp>
      <p:sp>
        <p:nvSpPr>
          <p:cNvPr id="11" name="Text 9"/>
          <p:cNvSpPr/>
          <p:nvPr/>
        </p:nvSpPr>
        <p:spPr>
          <a:xfrm>
            <a:off x="6715574" y="4087495"/>
            <a:ext cx="2569454" cy="2569718"/>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367783" y="4087495"/>
            <a:ext cx="2569454" cy="2569718"/>
          </a:xfrm>
          <a:prstGeom prst="ellipse">
            <a:avLst/>
          </a:prstGeom>
          <a:solidFill>
            <a:srgbClr val="D2E7D6"/>
          </a:solidFill>
          <a:ln/>
        </p:spPr>
      </p:sp>
      <p:sp>
        <p:nvSpPr>
          <p:cNvPr id="13" name="Text 11"/>
          <p:cNvSpPr/>
          <p:nvPr/>
        </p:nvSpPr>
        <p:spPr>
          <a:xfrm>
            <a:off x="9367783" y="4087495"/>
            <a:ext cx="2569454" cy="2569718"/>
          </a:xfrm>
          <a:prstGeom prst="rect">
            <a:avLst/>
          </a:prstGeom>
          <a:noFill/>
          <a:ln/>
        </p:spPr>
        <p:txBody>
          <a:bodyPr wrap="square" lIns="0" tIns="0" rIns="0" bIns="0" rtlCol="0" anchor="t"/>
          <a:lstStyle/>
          <a:p>
            <a:pPr indent="0" marL="0">
              <a:lnSpc>
                <a:spcPct val="100000"/>
              </a:lnSpc>
              <a:buNone/>
            </a:pPr>
            <a:endParaRPr lang="en-US" sz="1600" dirty="0"/>
          </a:p>
        </p:txBody>
      </p:sp>
      <p:sp>
        <p:nvSpPr>
          <p:cNvPr id="14" name="Shape 12"/>
          <p:cNvSpPr/>
          <p:nvPr/>
        </p:nvSpPr>
        <p:spPr>
          <a:xfrm>
            <a:off x="3810" y="5017770"/>
            <a:ext cx="1859280" cy="1859280"/>
          </a:xfrm>
          <a:prstGeom prst="ellipse">
            <a:avLst/>
          </a:prstGeom>
          <a:solidFill>
            <a:srgbClr val="4D9059"/>
          </a:solidFill>
          <a:ln/>
        </p:spPr>
      </p:sp>
      <p:sp>
        <p:nvSpPr>
          <p:cNvPr id="15" name="Text 13"/>
          <p:cNvSpPr/>
          <p:nvPr/>
        </p:nvSpPr>
        <p:spPr>
          <a:xfrm>
            <a:off x="3810" y="5017770"/>
            <a:ext cx="1859280" cy="1859280"/>
          </a:xfrm>
          <a:prstGeom prst="rect">
            <a:avLst/>
          </a:prstGeom>
          <a:noFill/>
          <a:ln/>
        </p:spPr>
        <p:txBody>
          <a:bodyPr wrap="square" lIns="0" tIns="0" rIns="0" bIns="0" rtlCol="0" anchor="t"/>
          <a:lstStyle/>
          <a:p>
            <a:pPr indent="0" marL="0">
              <a:lnSpc>
                <a:spcPct val="100000"/>
              </a:lnSpc>
              <a:buNone/>
            </a:pPr>
            <a:endParaRPr lang="en-US" sz="1600" dirty="0"/>
          </a:p>
        </p:txBody>
      </p:sp>
      <p:sp>
        <p:nvSpPr>
          <p:cNvPr id="16" name="Shape 14"/>
          <p:cNvSpPr/>
          <p:nvPr/>
        </p:nvSpPr>
        <p:spPr>
          <a:xfrm>
            <a:off x="-21590" y="3112770"/>
            <a:ext cx="1859280" cy="1859280"/>
          </a:xfrm>
          <a:prstGeom prst="ellipse">
            <a:avLst/>
          </a:prstGeom>
          <a:solidFill>
            <a:srgbClr val="4D9059"/>
          </a:solidFill>
          <a:ln/>
        </p:spPr>
      </p:sp>
      <p:sp>
        <p:nvSpPr>
          <p:cNvPr id="17" name="Text 15"/>
          <p:cNvSpPr/>
          <p:nvPr/>
        </p:nvSpPr>
        <p:spPr>
          <a:xfrm>
            <a:off x="-21590" y="3112770"/>
            <a:ext cx="1859280" cy="1859280"/>
          </a:xfrm>
          <a:prstGeom prst="rect">
            <a:avLst/>
          </a:prstGeom>
          <a:noFill/>
          <a:ln/>
        </p:spPr>
        <p:txBody>
          <a:bodyPr wrap="square" lIns="0" tIns="0" rIns="0" bIns="0" rtlCol="0" anchor="t"/>
          <a:lstStyle/>
          <a:p>
            <a:pPr indent="0" marL="0">
              <a:lnSpc>
                <a:spcPct val="100000"/>
              </a:lnSpc>
              <a:buNone/>
            </a:pPr>
            <a:endParaRPr lang="en-US" sz="1600" dirty="0"/>
          </a:p>
        </p:txBody>
      </p:sp>
      <p:sp>
        <p:nvSpPr>
          <p:cNvPr id="18" name="Shape 16"/>
          <p:cNvSpPr/>
          <p:nvPr/>
        </p:nvSpPr>
        <p:spPr>
          <a:xfrm>
            <a:off x="1934210" y="5017770"/>
            <a:ext cx="1859280" cy="1859280"/>
          </a:xfrm>
          <a:prstGeom prst="ellipse">
            <a:avLst/>
          </a:prstGeom>
          <a:solidFill>
            <a:srgbClr val="4D9059"/>
          </a:solidFill>
          <a:ln/>
        </p:spPr>
      </p:sp>
      <p:sp>
        <p:nvSpPr>
          <p:cNvPr id="19" name="Text 17"/>
          <p:cNvSpPr/>
          <p:nvPr/>
        </p:nvSpPr>
        <p:spPr>
          <a:xfrm>
            <a:off x="1934210" y="5017770"/>
            <a:ext cx="1859280" cy="1859280"/>
          </a:xfrm>
          <a:prstGeom prst="rect">
            <a:avLst/>
          </a:prstGeom>
          <a:noFill/>
          <a:ln/>
        </p:spPr>
        <p:txBody>
          <a:bodyPr wrap="square" lIns="0" tIns="0" rIns="0" bIns="0" rtlCol="0" anchor="t"/>
          <a:lstStyle/>
          <a:p>
            <a:pPr indent="0" marL="0">
              <a:lnSpc>
                <a:spcPct val="100000"/>
              </a:lnSpc>
              <a:buNone/>
            </a:pPr>
            <a:endParaRPr lang="en-US" sz="1600" dirty="0"/>
          </a:p>
        </p:txBody>
      </p:sp>
      <p:sp>
        <p:nvSpPr>
          <p:cNvPr id="20" name="Shape 18"/>
          <p:cNvSpPr/>
          <p:nvPr/>
        </p:nvSpPr>
        <p:spPr>
          <a:xfrm>
            <a:off x="1949450" y="2335530"/>
            <a:ext cx="1859280" cy="1859280"/>
          </a:xfrm>
          <a:prstGeom prst="ellipse">
            <a:avLst/>
          </a:prstGeom>
          <a:solidFill>
            <a:srgbClr val="4D9059"/>
          </a:solidFill>
          <a:ln/>
        </p:spPr>
      </p:sp>
      <p:sp>
        <p:nvSpPr>
          <p:cNvPr id="21" name="Text 19"/>
          <p:cNvSpPr/>
          <p:nvPr/>
        </p:nvSpPr>
        <p:spPr>
          <a:xfrm>
            <a:off x="1949450" y="2335530"/>
            <a:ext cx="1859280" cy="1859280"/>
          </a:xfrm>
          <a:prstGeom prst="rect">
            <a:avLst/>
          </a:prstGeom>
          <a:noFill/>
          <a:ln/>
        </p:spPr>
        <p:txBody>
          <a:bodyPr wrap="square" lIns="0" tIns="0" rIns="0" bIns="0" rtlCol="0" anchor="t"/>
          <a:lstStyle/>
          <a:p>
            <a:pPr indent="0" marL="0">
              <a:lnSpc>
                <a:spcPct val="100000"/>
              </a:lnSpc>
              <a:buNone/>
            </a:pPr>
            <a:endParaRPr lang="en-US" sz="1600" dirty="0"/>
          </a:p>
        </p:txBody>
      </p:sp>
      <p:sp>
        <p:nvSpPr>
          <p:cNvPr id="22" name="Text 20"/>
          <p:cNvSpPr/>
          <p:nvPr/>
        </p:nvSpPr>
        <p:spPr>
          <a:xfrm>
            <a:off x="387350" y="963295"/>
            <a:ext cx="4299585" cy="617141"/>
          </a:xfrm>
          <a:prstGeom prst="rect">
            <a:avLst/>
          </a:prstGeom>
          <a:noFill/>
          <a:ln/>
        </p:spPr>
        <p:txBody>
          <a:bodyPr wrap="square" lIns="91440" tIns="45720" rIns="91440" bIns="45720" rtlCol="0" anchor="t">
            <a:spAutoFit/>
          </a:bodyPr>
          <a:lstStyle/>
          <a:p>
            <a:pPr indent="0" marL="0">
              <a:lnSpc>
                <a:spcPct val="100000"/>
              </a:lnSpc>
              <a:buNone/>
            </a:pPr>
            <a:r>
              <a:rPr lang="en-US" sz="4000" b="1" dirty="0">
                <a:solidFill>
                  <a:srgbClr val="D2E7D6">
                    <a:alpha val="55000"/>
                  </a:srgbClr>
                </a:solidFill>
                <a:latin typeface="MiSans" pitchFamily="34" charset="0"/>
                <a:ea typeface="MiSans" pitchFamily="34" charset="-122"/>
                <a:cs typeface="MiSans" pitchFamily="34" charset="-120"/>
              </a:rPr>
              <a:t>CONTENTS</a:t>
            </a:r>
            <a:endParaRPr lang="en-US" sz="1600" dirty="0"/>
          </a:p>
        </p:txBody>
      </p:sp>
      <p:sp>
        <p:nvSpPr>
          <p:cNvPr id="23" name="Text 21"/>
          <p:cNvSpPr/>
          <p:nvPr/>
        </p:nvSpPr>
        <p:spPr>
          <a:xfrm>
            <a:off x="4192864" y="1941469"/>
            <a:ext cx="2431869" cy="842863"/>
          </a:xfrm>
          <a:prstGeom prst="rect">
            <a:avLst/>
          </a:prstGeom>
          <a:noFill/>
          <a:ln/>
        </p:spPr>
        <p:txBody>
          <a:bodyPr wrap="square" lIns="0" tIns="0" rIns="0" bIns="0" rtlCol="0" anchor="t"/>
          <a:lstStyle/>
          <a:p>
            <a:pPr algn="ctr" indent="0" marL="0">
              <a:lnSpc>
                <a:spcPct val="100000"/>
              </a:lnSpc>
              <a:buNone/>
            </a:pPr>
            <a:r>
              <a:rPr lang="en-US" sz="4800" b="1" dirty="0">
                <a:solidFill>
                  <a:srgbClr val="77AD6F"/>
                </a:solidFill>
                <a:latin typeface="MiSans" pitchFamily="34" charset="0"/>
                <a:ea typeface="MiSans" pitchFamily="34" charset="-122"/>
                <a:cs typeface="MiSans" pitchFamily="34" charset="-120"/>
              </a:rPr>
              <a:t>01</a:t>
            </a:r>
            <a:endParaRPr lang="en-US" sz="1600" dirty="0"/>
          </a:p>
        </p:txBody>
      </p:sp>
      <p:sp>
        <p:nvSpPr>
          <p:cNvPr id="24" name="Text 22"/>
          <p:cNvSpPr/>
          <p:nvPr/>
        </p:nvSpPr>
        <p:spPr>
          <a:xfrm>
            <a:off x="4192864" y="2693446"/>
            <a:ext cx="2431869" cy="842863"/>
          </a:xfrm>
          <a:prstGeom prst="rect">
            <a:avLst/>
          </a:prstGeom>
          <a:noFill/>
          <a:ln/>
        </p:spPr>
        <p:txBody>
          <a:bodyPr wrap="square" lIns="0" tIns="0" rIns="0" bIns="0" rtlCol="0" anchor="t"/>
          <a:lstStyle/>
          <a:p>
            <a:pPr algn="ctr" indent="0" marL="0">
              <a:lnSpc>
                <a:spcPct val="100000"/>
              </a:lnSpc>
              <a:buNone/>
            </a:pPr>
            <a:r>
              <a:rPr lang="en-US" sz="2000" dirty="0">
                <a:solidFill>
                  <a:srgbClr val="000000"/>
                </a:solidFill>
                <a:latin typeface="MiSans" pitchFamily="34" charset="0"/>
                <a:ea typeface="MiSans" pitchFamily="34" charset="-122"/>
                <a:cs typeface="MiSans" pitchFamily="34" charset="-120"/>
              </a:rPr>
              <a:t>Model Overview</a:t>
            </a:r>
            <a:endParaRPr lang="en-US" sz="1600" dirty="0"/>
          </a:p>
        </p:txBody>
      </p:sp>
      <p:sp>
        <p:nvSpPr>
          <p:cNvPr id="25" name="Text 23"/>
          <p:cNvSpPr/>
          <p:nvPr/>
        </p:nvSpPr>
        <p:spPr>
          <a:xfrm>
            <a:off x="6845073" y="1941469"/>
            <a:ext cx="2431869" cy="842863"/>
          </a:xfrm>
          <a:prstGeom prst="rect">
            <a:avLst/>
          </a:prstGeom>
          <a:noFill/>
          <a:ln/>
        </p:spPr>
        <p:txBody>
          <a:bodyPr wrap="square" lIns="0" tIns="0" rIns="0" bIns="0" rtlCol="0" anchor="t"/>
          <a:lstStyle/>
          <a:p>
            <a:pPr algn="ctr" indent="0" marL="0">
              <a:lnSpc>
                <a:spcPct val="100000"/>
              </a:lnSpc>
              <a:buNone/>
            </a:pPr>
            <a:r>
              <a:rPr lang="en-US" sz="4800" b="1" dirty="0">
                <a:solidFill>
                  <a:srgbClr val="77AD6F"/>
                </a:solidFill>
                <a:latin typeface="MiSans" pitchFamily="34" charset="0"/>
                <a:ea typeface="MiSans" pitchFamily="34" charset="-122"/>
                <a:cs typeface="MiSans" pitchFamily="34" charset="-120"/>
              </a:rPr>
              <a:t>02</a:t>
            </a:r>
            <a:endParaRPr lang="en-US" sz="1600" dirty="0"/>
          </a:p>
        </p:txBody>
      </p:sp>
      <p:sp>
        <p:nvSpPr>
          <p:cNvPr id="26" name="Text 24"/>
          <p:cNvSpPr/>
          <p:nvPr/>
        </p:nvSpPr>
        <p:spPr>
          <a:xfrm>
            <a:off x="6845073" y="2693446"/>
            <a:ext cx="2431869" cy="842863"/>
          </a:xfrm>
          <a:prstGeom prst="rect">
            <a:avLst/>
          </a:prstGeom>
          <a:noFill/>
          <a:ln/>
        </p:spPr>
        <p:txBody>
          <a:bodyPr wrap="square" lIns="0" tIns="0" rIns="0" bIns="0" rtlCol="0" anchor="t"/>
          <a:lstStyle/>
          <a:p>
            <a:pPr algn="ctr" indent="0" marL="0">
              <a:lnSpc>
                <a:spcPct val="100000"/>
              </a:lnSpc>
              <a:buNone/>
            </a:pPr>
            <a:r>
              <a:rPr lang="en-US" sz="2000" dirty="0">
                <a:solidFill>
                  <a:srgbClr val="000000"/>
                </a:solidFill>
                <a:latin typeface="MiSans" pitchFamily="34" charset="0"/>
                <a:ea typeface="MiSans" pitchFamily="34" charset="-122"/>
                <a:cs typeface="MiSans" pitchFamily="34" charset="-120"/>
              </a:rPr>
              <a:t>DAX Engine</a:t>
            </a:r>
            <a:endParaRPr lang="en-US" sz="1600" dirty="0"/>
          </a:p>
        </p:txBody>
      </p:sp>
      <p:sp>
        <p:nvSpPr>
          <p:cNvPr id="27" name="Text 25"/>
          <p:cNvSpPr/>
          <p:nvPr/>
        </p:nvSpPr>
        <p:spPr>
          <a:xfrm>
            <a:off x="9497282" y="1941469"/>
            <a:ext cx="2431869" cy="842863"/>
          </a:xfrm>
          <a:prstGeom prst="rect">
            <a:avLst/>
          </a:prstGeom>
          <a:noFill/>
          <a:ln/>
        </p:spPr>
        <p:txBody>
          <a:bodyPr wrap="square" lIns="0" tIns="0" rIns="0" bIns="0" rtlCol="0" anchor="t"/>
          <a:lstStyle/>
          <a:p>
            <a:pPr algn="ctr" indent="0" marL="0">
              <a:lnSpc>
                <a:spcPct val="100000"/>
              </a:lnSpc>
              <a:buNone/>
            </a:pPr>
            <a:r>
              <a:rPr lang="en-US" sz="4800" b="1" dirty="0">
                <a:solidFill>
                  <a:srgbClr val="77AD6F"/>
                </a:solidFill>
                <a:latin typeface="MiSans" pitchFamily="34" charset="0"/>
                <a:ea typeface="MiSans" pitchFamily="34" charset="-122"/>
                <a:cs typeface="MiSans" pitchFamily="34" charset="-120"/>
              </a:rPr>
              <a:t>03</a:t>
            </a:r>
            <a:endParaRPr lang="en-US" sz="1600" dirty="0"/>
          </a:p>
        </p:txBody>
      </p:sp>
      <p:sp>
        <p:nvSpPr>
          <p:cNvPr id="28" name="Text 26"/>
          <p:cNvSpPr/>
          <p:nvPr/>
        </p:nvSpPr>
        <p:spPr>
          <a:xfrm>
            <a:off x="9497282" y="2693446"/>
            <a:ext cx="2431869" cy="842863"/>
          </a:xfrm>
          <a:prstGeom prst="rect">
            <a:avLst/>
          </a:prstGeom>
          <a:noFill/>
          <a:ln/>
        </p:spPr>
        <p:txBody>
          <a:bodyPr wrap="square" lIns="0" tIns="0" rIns="0" bIns="0" rtlCol="0" anchor="t"/>
          <a:lstStyle/>
          <a:p>
            <a:pPr algn="ctr" indent="0" marL="0">
              <a:lnSpc>
                <a:spcPct val="100000"/>
              </a:lnSpc>
              <a:buNone/>
            </a:pPr>
            <a:r>
              <a:rPr lang="en-US" sz="2000" dirty="0">
                <a:solidFill>
                  <a:srgbClr val="000000"/>
                </a:solidFill>
                <a:latin typeface="MiSans" pitchFamily="34" charset="0"/>
                <a:ea typeface="MiSans" pitchFamily="34" charset="-122"/>
                <a:cs typeface="MiSans" pitchFamily="34" charset="-120"/>
              </a:rPr>
              <a:t>Visual Layer</a:t>
            </a:r>
            <a:endParaRPr lang="en-US" sz="1600" dirty="0"/>
          </a:p>
        </p:txBody>
      </p:sp>
      <p:sp>
        <p:nvSpPr>
          <p:cNvPr id="29" name="Text 27"/>
          <p:cNvSpPr/>
          <p:nvPr/>
        </p:nvSpPr>
        <p:spPr>
          <a:xfrm>
            <a:off x="4131904" y="4560209"/>
            <a:ext cx="2431869" cy="842863"/>
          </a:xfrm>
          <a:prstGeom prst="rect">
            <a:avLst/>
          </a:prstGeom>
          <a:noFill/>
          <a:ln/>
        </p:spPr>
        <p:txBody>
          <a:bodyPr wrap="square" lIns="0" tIns="0" rIns="0" bIns="0" rtlCol="0" anchor="t"/>
          <a:lstStyle/>
          <a:p>
            <a:pPr algn="ctr" indent="0" marL="0">
              <a:lnSpc>
                <a:spcPct val="100000"/>
              </a:lnSpc>
              <a:buNone/>
            </a:pPr>
            <a:r>
              <a:rPr lang="en-US" sz="4800" b="1" dirty="0">
                <a:solidFill>
                  <a:srgbClr val="77AD6F"/>
                </a:solidFill>
                <a:latin typeface="MiSans" pitchFamily="34" charset="0"/>
                <a:ea typeface="MiSans" pitchFamily="34" charset="-122"/>
                <a:cs typeface="MiSans" pitchFamily="34" charset="-120"/>
              </a:rPr>
              <a:t>04</a:t>
            </a:r>
            <a:endParaRPr lang="en-US" sz="1600" dirty="0"/>
          </a:p>
        </p:txBody>
      </p:sp>
      <p:sp>
        <p:nvSpPr>
          <p:cNvPr id="30" name="Text 28"/>
          <p:cNvSpPr/>
          <p:nvPr/>
        </p:nvSpPr>
        <p:spPr>
          <a:xfrm>
            <a:off x="4131904" y="5312186"/>
            <a:ext cx="2431869" cy="842863"/>
          </a:xfrm>
          <a:prstGeom prst="rect">
            <a:avLst/>
          </a:prstGeom>
          <a:noFill/>
          <a:ln/>
        </p:spPr>
        <p:txBody>
          <a:bodyPr wrap="square" lIns="0" tIns="0" rIns="0" bIns="0" rtlCol="0" anchor="t"/>
          <a:lstStyle/>
          <a:p>
            <a:pPr algn="ctr" indent="0" marL="0">
              <a:lnSpc>
                <a:spcPct val="100000"/>
              </a:lnSpc>
              <a:buNone/>
            </a:pPr>
            <a:r>
              <a:rPr lang="en-US" sz="2000" dirty="0">
                <a:solidFill>
                  <a:srgbClr val="000000"/>
                </a:solidFill>
                <a:latin typeface="MiSans" pitchFamily="34" charset="0"/>
                <a:ea typeface="MiSans" pitchFamily="34" charset="-122"/>
                <a:cs typeface="MiSans" pitchFamily="34" charset="-120"/>
              </a:rPr>
              <a:t>Key Insights</a:t>
            </a:r>
            <a:endParaRPr lang="en-US" sz="1600" dirty="0"/>
          </a:p>
        </p:txBody>
      </p:sp>
      <p:sp>
        <p:nvSpPr>
          <p:cNvPr id="31" name="Text 29"/>
          <p:cNvSpPr/>
          <p:nvPr/>
        </p:nvSpPr>
        <p:spPr>
          <a:xfrm>
            <a:off x="6784113" y="4560209"/>
            <a:ext cx="2431869" cy="842863"/>
          </a:xfrm>
          <a:prstGeom prst="rect">
            <a:avLst/>
          </a:prstGeom>
          <a:noFill/>
          <a:ln/>
        </p:spPr>
        <p:txBody>
          <a:bodyPr wrap="square" lIns="0" tIns="0" rIns="0" bIns="0" rtlCol="0" anchor="t"/>
          <a:lstStyle/>
          <a:p>
            <a:pPr algn="ctr" indent="0" marL="0">
              <a:lnSpc>
                <a:spcPct val="100000"/>
              </a:lnSpc>
              <a:buNone/>
            </a:pPr>
            <a:r>
              <a:rPr lang="en-US" sz="4800" b="1" dirty="0">
                <a:solidFill>
                  <a:srgbClr val="77AD6F"/>
                </a:solidFill>
                <a:latin typeface="MiSans" pitchFamily="34" charset="0"/>
                <a:ea typeface="MiSans" pitchFamily="34" charset="-122"/>
                <a:cs typeface="MiSans" pitchFamily="34" charset="-120"/>
              </a:rPr>
              <a:t>05</a:t>
            </a:r>
            <a:endParaRPr lang="en-US" sz="1600" dirty="0"/>
          </a:p>
        </p:txBody>
      </p:sp>
      <p:sp>
        <p:nvSpPr>
          <p:cNvPr id="32" name="Text 30"/>
          <p:cNvSpPr/>
          <p:nvPr/>
        </p:nvSpPr>
        <p:spPr>
          <a:xfrm>
            <a:off x="6784113" y="5312186"/>
            <a:ext cx="2431869" cy="842863"/>
          </a:xfrm>
          <a:prstGeom prst="rect">
            <a:avLst/>
          </a:prstGeom>
          <a:noFill/>
          <a:ln/>
        </p:spPr>
        <p:txBody>
          <a:bodyPr wrap="square" lIns="0" tIns="0" rIns="0" bIns="0" rtlCol="0" anchor="t"/>
          <a:lstStyle/>
          <a:p>
            <a:pPr algn="ctr" indent="0" marL="0">
              <a:lnSpc>
                <a:spcPct val="100000"/>
              </a:lnSpc>
              <a:buNone/>
            </a:pPr>
            <a:r>
              <a:rPr lang="en-US" sz="2000" dirty="0">
                <a:solidFill>
                  <a:srgbClr val="000000"/>
                </a:solidFill>
                <a:latin typeface="MiSans" pitchFamily="34" charset="0"/>
                <a:ea typeface="MiSans" pitchFamily="34" charset="-122"/>
                <a:cs typeface="MiSans" pitchFamily="34" charset="-120"/>
              </a:rPr>
              <a:t>Report Breakdown</a:t>
            </a:r>
            <a:endParaRPr lang="en-US" sz="1600" dirty="0"/>
          </a:p>
        </p:txBody>
      </p:sp>
      <p:sp>
        <p:nvSpPr>
          <p:cNvPr id="33" name="Text 31"/>
          <p:cNvSpPr/>
          <p:nvPr/>
        </p:nvSpPr>
        <p:spPr>
          <a:xfrm>
            <a:off x="9436322" y="4560209"/>
            <a:ext cx="2431869" cy="842863"/>
          </a:xfrm>
          <a:prstGeom prst="rect">
            <a:avLst/>
          </a:prstGeom>
          <a:noFill/>
          <a:ln/>
        </p:spPr>
        <p:txBody>
          <a:bodyPr wrap="square" lIns="0" tIns="0" rIns="0" bIns="0" rtlCol="0" anchor="t"/>
          <a:lstStyle/>
          <a:p>
            <a:pPr algn="ctr" indent="0" marL="0">
              <a:lnSpc>
                <a:spcPct val="100000"/>
              </a:lnSpc>
              <a:buNone/>
            </a:pPr>
            <a:r>
              <a:rPr lang="en-US" sz="4800" b="1" dirty="0">
                <a:solidFill>
                  <a:srgbClr val="77AD6F"/>
                </a:solidFill>
                <a:latin typeface="MiSans" pitchFamily="34" charset="0"/>
                <a:ea typeface="MiSans" pitchFamily="34" charset="-122"/>
                <a:cs typeface="MiSans" pitchFamily="34" charset="-120"/>
              </a:rPr>
              <a:t>06</a:t>
            </a:r>
            <a:endParaRPr lang="en-US" sz="1600" dirty="0"/>
          </a:p>
        </p:txBody>
      </p:sp>
      <p:sp>
        <p:nvSpPr>
          <p:cNvPr id="34" name="Text 32"/>
          <p:cNvSpPr/>
          <p:nvPr/>
        </p:nvSpPr>
        <p:spPr>
          <a:xfrm>
            <a:off x="9436322" y="5312186"/>
            <a:ext cx="2431869" cy="842863"/>
          </a:xfrm>
          <a:prstGeom prst="rect">
            <a:avLst/>
          </a:prstGeom>
          <a:noFill/>
          <a:ln/>
        </p:spPr>
        <p:txBody>
          <a:bodyPr wrap="square" lIns="0" tIns="0" rIns="0" bIns="0" rtlCol="0" anchor="t"/>
          <a:lstStyle/>
          <a:p>
            <a:pPr algn="ctr" indent="0" marL="0">
              <a:lnSpc>
                <a:spcPct val="100000"/>
              </a:lnSpc>
              <a:buNone/>
            </a:pPr>
            <a:r>
              <a:rPr lang="en-US" sz="2000" dirty="0">
                <a:solidFill>
                  <a:srgbClr val="000000"/>
                </a:solidFill>
                <a:latin typeface="MiSans" pitchFamily="34" charset="0"/>
                <a:ea typeface="MiSans" pitchFamily="34" charset="-122"/>
                <a:cs typeface="MiSans" pitchFamily="34" charset="-120"/>
              </a:rPr>
              <a:t>Conclusion</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3422015" y="726440"/>
            <a:ext cx="5753602" cy="5753602"/>
          </a:xfrm>
          <a:prstGeom prst="ellipse">
            <a:avLst/>
          </a:prstGeom>
          <a:solidFill>
            <a:srgbClr val="D2E7D6"/>
          </a:solidFill>
          <a:ln/>
        </p:spPr>
      </p:sp>
      <p:sp>
        <p:nvSpPr>
          <p:cNvPr id="3" name="Text 1"/>
          <p:cNvSpPr/>
          <p:nvPr/>
        </p:nvSpPr>
        <p:spPr>
          <a:xfrm>
            <a:off x="3422015" y="726440"/>
            <a:ext cx="5753602" cy="5753602"/>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Text 2"/>
          <p:cNvSpPr/>
          <p:nvPr/>
        </p:nvSpPr>
        <p:spPr>
          <a:xfrm>
            <a:off x="3575490" y="3468524"/>
            <a:ext cx="5445515" cy="1887172"/>
          </a:xfrm>
          <a:prstGeom prst="rect">
            <a:avLst/>
          </a:prstGeom>
          <a:noFill/>
          <a:ln/>
        </p:spPr>
        <p:txBody>
          <a:bodyPr wrap="square" lIns="0" tIns="0" rIns="0" bIns="0" rtlCol="0" anchor="t"/>
          <a:lstStyle/>
          <a:p>
            <a:pPr algn="ctr" indent="0" marL="0">
              <a:lnSpc>
                <a:spcPct val="100000"/>
              </a:lnSpc>
              <a:buNone/>
            </a:pPr>
            <a:r>
              <a:rPr lang="en-US" sz="4400" dirty="0">
                <a:solidFill>
                  <a:srgbClr val="000000"/>
                </a:solidFill>
                <a:latin typeface="MiSans" pitchFamily="34" charset="0"/>
                <a:ea typeface="MiSans" pitchFamily="34" charset="-122"/>
                <a:cs typeface="MiSans" pitchFamily="34" charset="-120"/>
              </a:rPr>
              <a:t>Model Overview</a:t>
            </a:r>
            <a:endParaRPr lang="en-US" sz="1600" dirty="0"/>
          </a:p>
        </p:txBody>
      </p:sp>
      <p:sp>
        <p:nvSpPr>
          <p:cNvPr id="5" name="Text 3"/>
          <p:cNvSpPr/>
          <p:nvPr/>
        </p:nvSpPr>
        <p:spPr>
          <a:xfrm>
            <a:off x="3575490" y="1609773"/>
            <a:ext cx="5445515" cy="1887172"/>
          </a:xfrm>
          <a:prstGeom prst="rect">
            <a:avLst/>
          </a:prstGeom>
          <a:noFill/>
          <a:ln/>
        </p:spPr>
        <p:txBody>
          <a:bodyPr wrap="square" lIns="0" tIns="0" rIns="0" bIns="0" rtlCol="0" anchor="t"/>
          <a:lstStyle/>
          <a:p>
            <a:pPr algn="ctr" indent="0" marL="0">
              <a:lnSpc>
                <a:spcPct val="100000"/>
              </a:lnSpc>
              <a:buNone/>
            </a:pPr>
            <a:r>
              <a:rPr lang="en-US" sz="9600" b="1" dirty="0">
                <a:solidFill>
                  <a:srgbClr val="77AD6F"/>
                </a:solidFill>
                <a:latin typeface="MiSans" pitchFamily="34" charset="0"/>
                <a:ea typeface="MiSans" pitchFamily="34" charset="-122"/>
                <a:cs typeface="MiSans" pitchFamily="34" charset="-120"/>
              </a:rPr>
              <a:t>01</a:t>
            </a:r>
            <a:endParaRPr lang="en-US" sz="1600" dirty="0"/>
          </a:p>
        </p:txBody>
      </p:sp>
      <p:sp>
        <p:nvSpPr>
          <p:cNvPr id="6" name="Shape 4"/>
          <p:cNvSpPr/>
          <p:nvPr/>
        </p:nvSpPr>
        <p:spPr>
          <a:xfrm>
            <a:off x="-970280" y="-1332230"/>
            <a:ext cx="4229735" cy="4229735"/>
          </a:xfrm>
          <a:prstGeom prst="ellipse">
            <a:avLst/>
          </a:prstGeom>
          <a:solidFill>
            <a:srgbClr val="D2E7D6"/>
          </a:solidFill>
          <a:ln/>
        </p:spPr>
      </p:sp>
      <p:sp>
        <p:nvSpPr>
          <p:cNvPr id="7" name="Text 5"/>
          <p:cNvSpPr/>
          <p:nvPr/>
        </p:nvSpPr>
        <p:spPr>
          <a:xfrm>
            <a:off x="-97028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970280" y="4128770"/>
            <a:ext cx="4229735" cy="4229735"/>
          </a:xfrm>
          <a:prstGeom prst="ellipse">
            <a:avLst/>
          </a:prstGeom>
          <a:solidFill>
            <a:srgbClr val="D2E7D6"/>
          </a:solidFill>
          <a:ln/>
        </p:spPr>
      </p:sp>
      <p:sp>
        <p:nvSpPr>
          <p:cNvPr id="9" name="Text 7"/>
          <p:cNvSpPr/>
          <p:nvPr/>
        </p:nvSpPr>
        <p:spPr>
          <a:xfrm>
            <a:off x="-97028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9519920" y="-1332230"/>
            <a:ext cx="4229735" cy="4229735"/>
          </a:xfrm>
          <a:prstGeom prst="ellipse">
            <a:avLst/>
          </a:prstGeom>
          <a:solidFill>
            <a:srgbClr val="D2E7D6"/>
          </a:solidFill>
          <a:ln/>
        </p:spPr>
      </p:sp>
      <p:sp>
        <p:nvSpPr>
          <p:cNvPr id="11" name="Text 9"/>
          <p:cNvSpPr/>
          <p:nvPr/>
        </p:nvSpPr>
        <p:spPr>
          <a:xfrm>
            <a:off x="951992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519920" y="4128770"/>
            <a:ext cx="4229735" cy="4229735"/>
          </a:xfrm>
          <a:prstGeom prst="ellipse">
            <a:avLst/>
          </a:prstGeom>
          <a:solidFill>
            <a:srgbClr val="D2E7D6"/>
          </a:solidFill>
          <a:ln/>
        </p:spPr>
      </p:sp>
      <p:sp>
        <p:nvSpPr>
          <p:cNvPr id="13" name="Text 11"/>
          <p:cNvSpPr/>
          <p:nvPr/>
        </p:nvSpPr>
        <p:spPr>
          <a:xfrm>
            <a:off x="951992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6309350" y="4055146"/>
            <a:ext cx="5083359" cy="2475368"/>
          </a:xfrm>
          <a:custGeom>
            <a:avLst/>
            <a:gdLst/>
            <a:ahLst/>
            <a:cxnLst/>
            <a:rect l="l" t="t" r="r" b="b"/>
            <a:pathLst>
              <a:path w="5083359" h="2475368">
                <a:moveTo>
                  <a:pt x="0" y="2062595"/>
                </a:moveTo>
                <a:lnTo>
                  <a:pt x="0" y="2074026"/>
                </a:lnTo>
                <a:cubicBezTo>
                  <a:pt x="-6350" y="2300098"/>
                  <a:pt x="221623" y="2481083"/>
                  <a:pt x="402605" y="2475368"/>
                </a:cubicBezTo>
                <a:lnTo>
                  <a:pt x="412765" y="2475368"/>
                </a:lnTo>
                <a:lnTo>
                  <a:pt x="4132730" y="2475368"/>
                </a:lnTo>
                <a:cubicBezTo>
                  <a:pt x="4154320" y="2011157"/>
                  <a:pt x="4692185" y="1482808"/>
                  <a:pt x="5083359" y="1425019"/>
                </a:cubicBezTo>
                <a:lnTo>
                  <a:pt x="5083359" y="412773"/>
                </a:lnTo>
                <a:lnTo>
                  <a:pt x="5083359" y="401977"/>
                </a:lnTo>
                <a:cubicBezTo>
                  <a:pt x="5090344" y="175270"/>
                  <a:pt x="4862371" y="-5080"/>
                  <a:pt x="4680754" y="0"/>
                </a:cubicBezTo>
                <a:lnTo>
                  <a:pt x="4670594" y="0"/>
                </a:lnTo>
                <a:lnTo>
                  <a:pt x="412765" y="0"/>
                </a:lnTo>
                <a:lnTo>
                  <a:pt x="401970" y="0"/>
                </a:lnTo>
                <a:cubicBezTo>
                  <a:pt x="175266" y="-6350"/>
                  <a:pt x="-5080" y="221627"/>
                  <a:pt x="0" y="402612"/>
                </a:cubicBezTo>
                <a:lnTo>
                  <a:pt x="0" y="412773"/>
                </a:lnTo>
                <a:lnTo>
                  <a:pt x="0" y="2062595"/>
                </a:lnTo>
                <a:close/>
              </a:path>
            </a:pathLst>
          </a:custGeom>
          <a:solidFill>
            <a:srgbClr val="D2E7D6"/>
          </a:solidFill>
          <a:ln/>
        </p:spPr>
      </p:sp>
      <p:sp>
        <p:nvSpPr>
          <p:cNvPr id="3" name="Text 1"/>
          <p:cNvSpPr/>
          <p:nvPr/>
        </p:nvSpPr>
        <p:spPr>
          <a:xfrm>
            <a:off x="6309350" y="4055146"/>
            <a:ext cx="5083359" cy="2475368"/>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4" name="Shape 2"/>
          <p:cNvSpPr/>
          <p:nvPr/>
        </p:nvSpPr>
        <p:spPr>
          <a:xfrm flipH="1" flipV="1">
            <a:off x="578659" y="1183814"/>
            <a:ext cx="5083359" cy="2475368"/>
          </a:xfrm>
          <a:custGeom>
            <a:avLst/>
            <a:gdLst/>
            <a:ahLst/>
            <a:cxnLst/>
            <a:rect l="l" t="t" r="r" b="b"/>
            <a:pathLst>
              <a:path w="5083359" h="2475368">
                <a:moveTo>
                  <a:pt x="5083359" y="412773"/>
                </a:moveTo>
                <a:lnTo>
                  <a:pt x="5083359" y="401977"/>
                </a:lnTo>
                <a:cubicBezTo>
                  <a:pt x="5090344" y="175270"/>
                  <a:pt x="4862371" y="-5080"/>
                  <a:pt x="4680754" y="0"/>
                </a:cubicBezTo>
                <a:lnTo>
                  <a:pt x="4670594" y="0"/>
                </a:lnTo>
                <a:lnTo>
                  <a:pt x="950629" y="0"/>
                </a:lnTo>
                <a:cubicBezTo>
                  <a:pt x="929039" y="463576"/>
                  <a:pt x="391174" y="993195"/>
                  <a:pt x="0" y="1050349"/>
                </a:cubicBezTo>
                <a:lnTo>
                  <a:pt x="0" y="2062595"/>
                </a:lnTo>
                <a:lnTo>
                  <a:pt x="0" y="2074026"/>
                </a:lnTo>
                <a:cubicBezTo>
                  <a:pt x="-6350" y="2300098"/>
                  <a:pt x="221623" y="2480448"/>
                  <a:pt x="402605" y="2475368"/>
                </a:cubicBezTo>
                <a:lnTo>
                  <a:pt x="412765" y="2475368"/>
                </a:lnTo>
                <a:lnTo>
                  <a:pt x="4670594" y="2475368"/>
                </a:lnTo>
                <a:lnTo>
                  <a:pt x="4682024" y="2475368"/>
                </a:lnTo>
                <a:cubicBezTo>
                  <a:pt x="4908093" y="2482353"/>
                  <a:pt x="5089074" y="2254376"/>
                  <a:pt x="5083359" y="2072756"/>
                </a:cubicBezTo>
                <a:lnTo>
                  <a:pt x="5083359" y="2062595"/>
                </a:lnTo>
                <a:lnTo>
                  <a:pt x="5083359" y="412773"/>
                </a:lnTo>
                <a:close/>
              </a:path>
            </a:pathLst>
          </a:custGeom>
          <a:solidFill>
            <a:srgbClr val="D2E7D6"/>
          </a:solidFill>
          <a:ln/>
        </p:spPr>
      </p:sp>
      <p:sp>
        <p:nvSpPr>
          <p:cNvPr id="5" name="Text 3"/>
          <p:cNvSpPr/>
          <p:nvPr/>
        </p:nvSpPr>
        <p:spPr>
          <a:xfrm>
            <a:off x="578659" y="1183814"/>
            <a:ext cx="5083359" cy="2475368"/>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6" name="Text 4"/>
          <p:cNvSpPr/>
          <p:nvPr/>
        </p:nvSpPr>
        <p:spPr>
          <a:xfrm>
            <a:off x="762883" y="521335"/>
            <a:ext cx="8170863" cy="562570"/>
          </a:xfrm>
          <a:prstGeom prst="rect">
            <a:avLst/>
          </a:prstGeom>
          <a:noFill/>
          <a:ln/>
        </p:spPr>
        <p:txBody>
          <a:bodyPr wrap="square" lIns="0" tIns="0" rIns="0" bIns="0" rtlCol="0" anchor="t">
            <a:spAutoFit/>
          </a:bodyPr>
          <a:lstStyle/>
          <a:p>
            <a:pPr indent="0" marL="0">
              <a:lnSpc>
                <a:spcPct val="100000"/>
              </a:lnSpc>
              <a:buNone/>
            </a:pPr>
            <a:r>
              <a:rPr lang="en-US" sz="3600" dirty="0">
                <a:solidFill>
                  <a:srgbClr val="77AD6F"/>
                </a:solidFill>
                <a:latin typeface="MiSans" pitchFamily="34" charset="0"/>
                <a:ea typeface="MiSans" pitchFamily="34" charset="-122"/>
                <a:cs typeface="MiSans" pitchFamily="34" charset="-120"/>
              </a:rPr>
              <a:t>Semantic Model Architecture</a:t>
            </a:r>
            <a:endParaRPr lang="en-US" sz="1600" dirty="0"/>
          </a:p>
        </p:txBody>
      </p:sp>
      <p:pic>
        <p:nvPicPr>
          <p:cNvPr id="7" name="Image 0" descr="https://kimi-img.moonshot.cn/pub/slides/slides_tmpl/image/25-08-27-20:03:16-d2nf8118bjvh7rlj08r0.png">    </p:cNvPr>
          <p:cNvPicPr>
            <a:picLocks noChangeAspect="1"/>
          </p:cNvPicPr>
          <p:nvPr/>
        </p:nvPicPr>
        <p:blipFill>
          <a:blip r:embed="rId1"/>
          <a:stretch>
            <a:fillRect/>
          </a:stretch>
        </p:blipFill>
        <p:spPr>
          <a:xfrm>
            <a:off x="7981563" y="2286395"/>
            <a:ext cx="4338956" cy="4752341"/>
          </a:xfrm>
          <a:prstGeom prst="rect">
            <a:avLst/>
          </a:prstGeom>
        </p:spPr>
      </p:pic>
      <p:sp>
        <p:nvSpPr>
          <p:cNvPr id="8" name="Shape 5"/>
          <p:cNvSpPr/>
          <p:nvPr/>
        </p:nvSpPr>
        <p:spPr>
          <a:xfrm flipH="1" flipV="1">
            <a:off x="6308080" y="1183814"/>
            <a:ext cx="5083359" cy="2475368"/>
          </a:xfrm>
          <a:custGeom>
            <a:avLst/>
            <a:gdLst/>
            <a:ahLst/>
            <a:cxnLst/>
            <a:rect l="l" t="t" r="r" b="b"/>
            <a:pathLst>
              <a:path w="5083359" h="2475368">
                <a:moveTo>
                  <a:pt x="0" y="412773"/>
                </a:moveTo>
                <a:lnTo>
                  <a:pt x="0" y="401977"/>
                </a:lnTo>
                <a:cubicBezTo>
                  <a:pt x="-6350" y="175270"/>
                  <a:pt x="221623" y="-5080"/>
                  <a:pt x="402605" y="0"/>
                </a:cubicBezTo>
                <a:lnTo>
                  <a:pt x="412765" y="0"/>
                </a:lnTo>
                <a:lnTo>
                  <a:pt x="4131460" y="0"/>
                </a:lnTo>
                <a:cubicBezTo>
                  <a:pt x="4153685" y="464211"/>
                  <a:pt x="4689010" y="992560"/>
                  <a:pt x="5083359" y="1050349"/>
                </a:cubicBezTo>
                <a:lnTo>
                  <a:pt x="5083359" y="2062595"/>
                </a:lnTo>
                <a:lnTo>
                  <a:pt x="5083359" y="2074026"/>
                </a:lnTo>
                <a:cubicBezTo>
                  <a:pt x="5090344" y="2300098"/>
                  <a:pt x="4862371" y="2480448"/>
                  <a:pt x="4680754" y="2475368"/>
                </a:cubicBezTo>
                <a:lnTo>
                  <a:pt x="4670594" y="2475368"/>
                </a:lnTo>
                <a:lnTo>
                  <a:pt x="412765" y="2475368"/>
                </a:lnTo>
                <a:lnTo>
                  <a:pt x="401970" y="2475368"/>
                </a:lnTo>
                <a:cubicBezTo>
                  <a:pt x="175266" y="2482353"/>
                  <a:pt x="-5080" y="2254376"/>
                  <a:pt x="0" y="2072756"/>
                </a:cubicBezTo>
                <a:lnTo>
                  <a:pt x="0" y="2062595"/>
                </a:lnTo>
                <a:lnTo>
                  <a:pt x="0" y="412773"/>
                </a:lnTo>
                <a:close/>
              </a:path>
            </a:pathLst>
          </a:custGeom>
          <a:solidFill>
            <a:srgbClr val="D2E7D6"/>
          </a:solidFill>
          <a:ln/>
        </p:spPr>
      </p:sp>
      <p:sp>
        <p:nvSpPr>
          <p:cNvPr id="9" name="Text 6"/>
          <p:cNvSpPr/>
          <p:nvPr/>
        </p:nvSpPr>
        <p:spPr>
          <a:xfrm>
            <a:off x="6308080" y="1183814"/>
            <a:ext cx="5083359" cy="2475368"/>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10" name="Shape 7"/>
          <p:cNvSpPr/>
          <p:nvPr/>
        </p:nvSpPr>
        <p:spPr>
          <a:xfrm>
            <a:off x="4772660" y="2669540"/>
            <a:ext cx="2401526" cy="2401526"/>
          </a:xfrm>
          <a:prstGeom prst="ellipse">
            <a:avLst/>
          </a:prstGeom>
          <a:solidFill>
            <a:srgbClr val="77AD6F"/>
          </a:solidFill>
          <a:ln/>
        </p:spPr>
      </p:sp>
      <p:sp>
        <p:nvSpPr>
          <p:cNvPr id="11" name="Text 8"/>
          <p:cNvSpPr/>
          <p:nvPr/>
        </p:nvSpPr>
        <p:spPr>
          <a:xfrm>
            <a:off x="4772660" y="2669540"/>
            <a:ext cx="2401526" cy="2401526"/>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9"/>
          <p:cNvSpPr/>
          <p:nvPr/>
        </p:nvSpPr>
        <p:spPr>
          <a:xfrm>
            <a:off x="4938833" y="2835713"/>
            <a:ext cx="2069772" cy="2069772"/>
          </a:xfrm>
          <a:prstGeom prst="ellipse">
            <a:avLst/>
          </a:prstGeom>
          <a:solidFill>
            <a:srgbClr val="D2E7D6"/>
          </a:solidFill>
          <a:ln/>
        </p:spPr>
      </p:sp>
      <p:sp>
        <p:nvSpPr>
          <p:cNvPr id="13" name="Text 10"/>
          <p:cNvSpPr/>
          <p:nvPr/>
        </p:nvSpPr>
        <p:spPr>
          <a:xfrm>
            <a:off x="4938833" y="2835713"/>
            <a:ext cx="2069772" cy="2069772"/>
          </a:xfrm>
          <a:prstGeom prst="rect">
            <a:avLst/>
          </a:prstGeom>
          <a:noFill/>
          <a:ln/>
        </p:spPr>
        <p:txBody>
          <a:bodyPr wrap="square" lIns="0" tIns="0" rIns="0" bIns="0" rtlCol="0" anchor="t"/>
          <a:lstStyle/>
          <a:p>
            <a:pPr indent="0" marL="0">
              <a:lnSpc>
                <a:spcPct val="100000"/>
              </a:lnSpc>
              <a:buNone/>
            </a:pPr>
            <a:endParaRPr lang="en-US" sz="1600" dirty="0"/>
          </a:p>
        </p:txBody>
      </p:sp>
      <p:sp>
        <p:nvSpPr>
          <p:cNvPr id="14" name="Shape 11"/>
          <p:cNvSpPr/>
          <p:nvPr/>
        </p:nvSpPr>
        <p:spPr>
          <a:xfrm>
            <a:off x="5116242" y="3013122"/>
            <a:ext cx="1714954" cy="1714954"/>
          </a:xfrm>
          <a:prstGeom prst="ellipse">
            <a:avLst/>
          </a:prstGeom>
          <a:solidFill>
            <a:srgbClr val="77AD6F"/>
          </a:solidFill>
          <a:ln/>
        </p:spPr>
      </p:sp>
      <p:sp>
        <p:nvSpPr>
          <p:cNvPr id="15" name="Text 12"/>
          <p:cNvSpPr/>
          <p:nvPr/>
        </p:nvSpPr>
        <p:spPr>
          <a:xfrm>
            <a:off x="5116242" y="3013122"/>
            <a:ext cx="1714954" cy="1714954"/>
          </a:xfrm>
          <a:prstGeom prst="rect">
            <a:avLst/>
          </a:prstGeom>
          <a:noFill/>
          <a:ln/>
        </p:spPr>
        <p:txBody>
          <a:bodyPr wrap="square" lIns="0" tIns="0" rIns="0" bIns="0" rtlCol="0" anchor="t"/>
          <a:lstStyle/>
          <a:p>
            <a:pPr indent="0" marL="0">
              <a:lnSpc>
                <a:spcPct val="100000"/>
              </a:lnSpc>
              <a:buNone/>
            </a:pPr>
            <a:endParaRPr lang="en-US" sz="1600" dirty="0"/>
          </a:p>
        </p:txBody>
      </p:sp>
      <p:pic>
        <p:nvPicPr>
          <p:cNvPr id="16" name="Image 1" descr="https://kimi-img.moonshot.cn/pub/slides/slides_tmpl/image/25-08-27-20:03:18-d2nf81h8bjvh7rlj091g.svg">    </p:cNvPr>
          <p:cNvPicPr>
            <a:picLocks noChangeAspect="1"/>
          </p:cNvPicPr>
          <p:nvPr/>
        </p:nvPicPr>
        <p:blipFill>
          <a:blip r:embed="rId2">
            <a:extLst>
              <a:ext uri="{96DAC541-7B7A-43D3-8B79-37D633B846F1}">
                <asvg:svgBlip xmlns:asvg="http://schemas.microsoft.com/office/drawing/2016/SVG/main" r:embed="rId3"/>
              </a:ext>
            </a:extLst>
          </a:blip>
          <a:srcRect l="0" r="0" t="1226" b="557"/>
          <a:stretch/>
        </p:blipFill>
        <p:spPr>
          <a:xfrm>
            <a:off x="5436870" y="3323590"/>
            <a:ext cx="1139825" cy="1119505"/>
          </a:xfrm>
          <a:prstGeom prst="rect">
            <a:avLst/>
          </a:prstGeom>
        </p:spPr>
      </p:pic>
      <p:sp>
        <p:nvSpPr>
          <p:cNvPr id="17" name="Text 13"/>
          <p:cNvSpPr/>
          <p:nvPr/>
        </p:nvSpPr>
        <p:spPr>
          <a:xfrm>
            <a:off x="800100" y="1330960"/>
            <a:ext cx="4699635" cy="276225"/>
          </a:xfrm>
          <a:prstGeom prst="rect">
            <a:avLst/>
          </a:prstGeom>
          <a:noFill/>
          <a:ln/>
        </p:spPr>
        <p:txBody>
          <a:bodyPr wrap="square" lIns="45720" tIns="45720" rIns="45720" bIns="45720" rtlCol="0" anchor="t">
            <a:spAutoFit/>
          </a:bodyPr>
          <a:lstStyle/>
          <a:p>
            <a:pPr indent="0" marL="0">
              <a:lnSpc>
                <a:spcPct val="100000"/>
              </a:lnSpc>
              <a:buNone/>
            </a:pPr>
            <a:r>
              <a:rPr lang="en-US" sz="1800" dirty="0">
                <a:solidFill>
                  <a:srgbClr val="000000"/>
                </a:solidFill>
                <a:latin typeface="MiSans" pitchFamily="34" charset="0"/>
                <a:ea typeface="MiSans" pitchFamily="34" charset="-122"/>
                <a:cs typeface="MiSans" pitchFamily="34" charset="-120"/>
              </a:rPr>
              <a:t>Star Schema Components</a:t>
            </a:r>
            <a:endParaRPr lang="en-US" sz="1600" dirty="0"/>
          </a:p>
        </p:txBody>
      </p:sp>
      <p:sp>
        <p:nvSpPr>
          <p:cNvPr id="18" name="Text 14"/>
          <p:cNvSpPr/>
          <p:nvPr/>
        </p:nvSpPr>
        <p:spPr>
          <a:xfrm>
            <a:off x="823595" y="1744345"/>
            <a:ext cx="4207510" cy="1724819"/>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Adventure Works 2020 Power BI model employs a star schema with factSales at the center, surrounded by dimensions like dimProduct, dimDate, dimSales, and dimSalesperson. This structure ensures efficient querying and data retrieval.</a:t>
            </a:r>
            <a:endParaRPr lang="en-US" sz="1600" dirty="0"/>
          </a:p>
        </p:txBody>
      </p:sp>
      <p:sp>
        <p:nvSpPr>
          <p:cNvPr id="19" name="Text 15"/>
          <p:cNvSpPr/>
          <p:nvPr/>
        </p:nvSpPr>
        <p:spPr>
          <a:xfrm>
            <a:off x="6816725" y="1330960"/>
            <a:ext cx="4438015" cy="276225"/>
          </a:xfrm>
          <a:prstGeom prst="rect">
            <a:avLst/>
          </a:prstGeom>
          <a:noFill/>
          <a:ln/>
        </p:spPr>
        <p:txBody>
          <a:bodyPr wrap="square" lIns="45720" tIns="45720" rIns="45720" bIns="45720" rtlCol="0" anchor="t">
            <a:spAutoFit/>
          </a:bodyPr>
          <a:lstStyle/>
          <a:p>
            <a:pPr indent="0" marL="0">
              <a:lnSpc>
                <a:spcPct val="100000"/>
              </a:lnSpc>
              <a:buNone/>
            </a:pPr>
            <a:r>
              <a:rPr lang="en-US" sz="1800" dirty="0">
                <a:solidFill>
                  <a:srgbClr val="000000"/>
                </a:solidFill>
                <a:latin typeface="MiSans" pitchFamily="34" charset="0"/>
                <a:ea typeface="MiSans" pitchFamily="34" charset="-122"/>
                <a:cs typeface="MiSans" pitchFamily="34" charset="-120"/>
              </a:rPr>
              <a:t>Granularity and Partitioning</a:t>
            </a:r>
            <a:endParaRPr lang="en-US" sz="1600" dirty="0"/>
          </a:p>
        </p:txBody>
      </p:sp>
      <p:sp>
        <p:nvSpPr>
          <p:cNvPr id="20" name="Text 16"/>
          <p:cNvSpPr/>
          <p:nvPr/>
        </p:nvSpPr>
        <p:spPr>
          <a:xfrm>
            <a:off x="6812915" y="1744345"/>
            <a:ext cx="4338955" cy="1149945"/>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factSales table is granular at the daily order line level. Data is partitioned by year to optimize performance, allowing for faster query execution and efficient data management.</a:t>
            </a:r>
            <a:endParaRPr lang="en-US" sz="1600" dirty="0"/>
          </a:p>
        </p:txBody>
      </p:sp>
      <p:sp>
        <p:nvSpPr>
          <p:cNvPr id="21" name="Text 17"/>
          <p:cNvSpPr/>
          <p:nvPr/>
        </p:nvSpPr>
        <p:spPr>
          <a:xfrm>
            <a:off x="7174186" y="4211955"/>
            <a:ext cx="4338955" cy="387985"/>
          </a:xfrm>
          <a:prstGeom prst="rect">
            <a:avLst/>
          </a:prstGeom>
          <a:noFill/>
          <a:ln/>
        </p:spPr>
        <p:txBody>
          <a:bodyPr wrap="square" lIns="45720" tIns="45720" rIns="45720" bIns="45720" rtlCol="0" anchor="t"/>
          <a:lstStyle/>
          <a:p>
            <a:pPr indent="0" marL="0">
              <a:lnSpc>
                <a:spcPct val="100000"/>
              </a:lnSpc>
              <a:buNone/>
            </a:pPr>
            <a:r>
              <a:rPr lang="en-US" sz="1800" dirty="0">
                <a:solidFill>
                  <a:srgbClr val="000000"/>
                </a:solidFill>
                <a:latin typeface="MiSans" pitchFamily="34" charset="0"/>
                <a:ea typeface="MiSans" pitchFamily="34" charset="-122"/>
                <a:cs typeface="MiSans" pitchFamily="34" charset="-120"/>
              </a:rPr>
              <a:t>Relationships and Dependencies</a:t>
            </a:r>
            <a:endParaRPr lang="en-US" sz="1600" dirty="0"/>
          </a:p>
        </p:txBody>
      </p:sp>
      <p:sp>
        <p:nvSpPr>
          <p:cNvPr id="22" name="Text 18"/>
          <p:cNvSpPr/>
          <p:nvPr/>
        </p:nvSpPr>
        <p:spPr>
          <a:xfrm>
            <a:off x="7008605" y="4662566"/>
            <a:ext cx="4338955" cy="1149945"/>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One-directional relationships are enforced to avoid circular dependencies, ensuring that the model remains stable and performs well under various query conditions.</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3422015" y="726440"/>
            <a:ext cx="5753602" cy="5753602"/>
          </a:xfrm>
          <a:prstGeom prst="ellipse">
            <a:avLst/>
          </a:prstGeom>
          <a:solidFill>
            <a:srgbClr val="D2E7D6"/>
          </a:solidFill>
          <a:ln/>
        </p:spPr>
      </p:sp>
      <p:sp>
        <p:nvSpPr>
          <p:cNvPr id="3" name="Text 1"/>
          <p:cNvSpPr/>
          <p:nvPr/>
        </p:nvSpPr>
        <p:spPr>
          <a:xfrm>
            <a:off x="3422015" y="726440"/>
            <a:ext cx="5753602" cy="5753602"/>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Text 2"/>
          <p:cNvSpPr/>
          <p:nvPr/>
        </p:nvSpPr>
        <p:spPr>
          <a:xfrm>
            <a:off x="3575490" y="3468524"/>
            <a:ext cx="5445515" cy="1887172"/>
          </a:xfrm>
          <a:prstGeom prst="rect">
            <a:avLst/>
          </a:prstGeom>
          <a:noFill/>
          <a:ln/>
        </p:spPr>
        <p:txBody>
          <a:bodyPr wrap="square" lIns="0" tIns="0" rIns="0" bIns="0" rtlCol="0" anchor="t"/>
          <a:lstStyle/>
          <a:p>
            <a:pPr algn="ctr" indent="0" marL="0">
              <a:lnSpc>
                <a:spcPct val="100000"/>
              </a:lnSpc>
              <a:buNone/>
            </a:pPr>
            <a:r>
              <a:rPr lang="en-US" sz="4400" dirty="0">
                <a:solidFill>
                  <a:srgbClr val="000000"/>
                </a:solidFill>
                <a:latin typeface="MiSans" pitchFamily="34" charset="0"/>
                <a:ea typeface="MiSans" pitchFamily="34" charset="-122"/>
                <a:cs typeface="MiSans" pitchFamily="34" charset="-120"/>
              </a:rPr>
              <a:t>DAX Engine</a:t>
            </a:r>
            <a:endParaRPr lang="en-US" sz="1600" dirty="0"/>
          </a:p>
        </p:txBody>
      </p:sp>
      <p:sp>
        <p:nvSpPr>
          <p:cNvPr id="5" name="Text 3"/>
          <p:cNvSpPr/>
          <p:nvPr/>
        </p:nvSpPr>
        <p:spPr>
          <a:xfrm>
            <a:off x="3575490" y="1609773"/>
            <a:ext cx="5445515" cy="1887172"/>
          </a:xfrm>
          <a:prstGeom prst="rect">
            <a:avLst/>
          </a:prstGeom>
          <a:noFill/>
          <a:ln/>
        </p:spPr>
        <p:txBody>
          <a:bodyPr wrap="square" lIns="0" tIns="0" rIns="0" bIns="0" rtlCol="0" anchor="t"/>
          <a:lstStyle/>
          <a:p>
            <a:pPr algn="ctr" indent="0" marL="0">
              <a:lnSpc>
                <a:spcPct val="100000"/>
              </a:lnSpc>
              <a:buNone/>
            </a:pPr>
            <a:r>
              <a:rPr lang="en-US" sz="9600" b="1" dirty="0">
                <a:solidFill>
                  <a:srgbClr val="77AD6F"/>
                </a:solidFill>
                <a:latin typeface="MiSans" pitchFamily="34" charset="0"/>
                <a:ea typeface="MiSans" pitchFamily="34" charset="-122"/>
                <a:cs typeface="MiSans" pitchFamily="34" charset="-120"/>
              </a:rPr>
              <a:t>02</a:t>
            </a:r>
            <a:endParaRPr lang="en-US" sz="1600" dirty="0"/>
          </a:p>
        </p:txBody>
      </p:sp>
      <p:sp>
        <p:nvSpPr>
          <p:cNvPr id="6" name="Shape 4"/>
          <p:cNvSpPr/>
          <p:nvPr/>
        </p:nvSpPr>
        <p:spPr>
          <a:xfrm>
            <a:off x="-970280" y="-1332230"/>
            <a:ext cx="4229735" cy="4229735"/>
          </a:xfrm>
          <a:prstGeom prst="ellipse">
            <a:avLst/>
          </a:prstGeom>
          <a:solidFill>
            <a:srgbClr val="D2E7D6"/>
          </a:solidFill>
          <a:ln/>
        </p:spPr>
      </p:sp>
      <p:sp>
        <p:nvSpPr>
          <p:cNvPr id="7" name="Text 5"/>
          <p:cNvSpPr/>
          <p:nvPr/>
        </p:nvSpPr>
        <p:spPr>
          <a:xfrm>
            <a:off x="-97028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970280" y="4128770"/>
            <a:ext cx="4229735" cy="4229735"/>
          </a:xfrm>
          <a:prstGeom prst="ellipse">
            <a:avLst/>
          </a:prstGeom>
          <a:solidFill>
            <a:srgbClr val="D2E7D6"/>
          </a:solidFill>
          <a:ln/>
        </p:spPr>
      </p:sp>
      <p:sp>
        <p:nvSpPr>
          <p:cNvPr id="9" name="Text 7"/>
          <p:cNvSpPr/>
          <p:nvPr/>
        </p:nvSpPr>
        <p:spPr>
          <a:xfrm>
            <a:off x="-97028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9519920" y="-1332230"/>
            <a:ext cx="4229735" cy="4229735"/>
          </a:xfrm>
          <a:prstGeom prst="ellipse">
            <a:avLst/>
          </a:prstGeom>
          <a:solidFill>
            <a:srgbClr val="D2E7D6"/>
          </a:solidFill>
          <a:ln/>
        </p:spPr>
      </p:sp>
      <p:sp>
        <p:nvSpPr>
          <p:cNvPr id="11" name="Text 9"/>
          <p:cNvSpPr/>
          <p:nvPr/>
        </p:nvSpPr>
        <p:spPr>
          <a:xfrm>
            <a:off x="951992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519920" y="4128770"/>
            <a:ext cx="4229735" cy="4229735"/>
          </a:xfrm>
          <a:prstGeom prst="ellipse">
            <a:avLst/>
          </a:prstGeom>
          <a:solidFill>
            <a:srgbClr val="D2E7D6"/>
          </a:solidFill>
          <a:ln/>
        </p:spPr>
      </p:sp>
      <p:sp>
        <p:nvSpPr>
          <p:cNvPr id="13" name="Text 11"/>
          <p:cNvSpPr/>
          <p:nvPr/>
        </p:nvSpPr>
        <p:spPr>
          <a:xfrm>
            <a:off x="951992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6200000">
            <a:off x="6651625" y="820420"/>
            <a:ext cx="1484630" cy="9579610"/>
          </a:xfrm>
          <a:prstGeom prst="round2SameRect">
            <a:avLst>
              <a:gd name="adj1" fmla="val 50000"/>
              <a:gd name="adj2" fmla="val 0"/>
            </a:avLst>
          </a:prstGeom>
          <a:solidFill>
            <a:srgbClr val="D2E7D6"/>
          </a:solidFill>
          <a:ln/>
        </p:spPr>
      </p:sp>
      <p:sp>
        <p:nvSpPr>
          <p:cNvPr id="3" name="Text 1"/>
          <p:cNvSpPr/>
          <p:nvPr/>
        </p:nvSpPr>
        <p:spPr>
          <a:xfrm rot="16200000">
            <a:off x="6651625" y="820420"/>
            <a:ext cx="1484630" cy="957961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4" name="Shape 2"/>
          <p:cNvSpPr/>
          <p:nvPr/>
        </p:nvSpPr>
        <p:spPr>
          <a:xfrm rot="16200000">
            <a:off x="5539740" y="-3763645"/>
            <a:ext cx="1484630" cy="11892280"/>
          </a:xfrm>
          <a:prstGeom prst="round2SameRect">
            <a:avLst>
              <a:gd name="adj1" fmla="val 50000"/>
              <a:gd name="adj2" fmla="val 0"/>
            </a:avLst>
          </a:prstGeom>
          <a:solidFill>
            <a:srgbClr val="D2E7D6"/>
          </a:solidFill>
          <a:ln/>
        </p:spPr>
      </p:sp>
      <p:sp>
        <p:nvSpPr>
          <p:cNvPr id="5" name="Text 3"/>
          <p:cNvSpPr/>
          <p:nvPr/>
        </p:nvSpPr>
        <p:spPr>
          <a:xfrm rot="16200000">
            <a:off x="5539740" y="-3763645"/>
            <a:ext cx="1484630" cy="1189228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6" name="Shape 4"/>
          <p:cNvSpPr/>
          <p:nvPr/>
        </p:nvSpPr>
        <p:spPr>
          <a:xfrm rot="16200000">
            <a:off x="5989320" y="-1575435"/>
            <a:ext cx="1484630" cy="10926445"/>
          </a:xfrm>
          <a:prstGeom prst="round2SameRect">
            <a:avLst>
              <a:gd name="adj1" fmla="val 50000"/>
              <a:gd name="adj2" fmla="val 0"/>
            </a:avLst>
          </a:prstGeom>
          <a:solidFill>
            <a:srgbClr val="77AD6F"/>
          </a:solidFill>
          <a:ln/>
        </p:spPr>
      </p:sp>
      <p:sp>
        <p:nvSpPr>
          <p:cNvPr id="7" name="Text 5"/>
          <p:cNvSpPr/>
          <p:nvPr/>
        </p:nvSpPr>
        <p:spPr>
          <a:xfrm rot="16200000">
            <a:off x="5989320" y="-1575435"/>
            <a:ext cx="1484630" cy="1092644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8" name="Shape 6"/>
          <p:cNvSpPr/>
          <p:nvPr/>
        </p:nvSpPr>
        <p:spPr>
          <a:xfrm>
            <a:off x="1751938" y="3559536"/>
            <a:ext cx="637958" cy="637956"/>
          </a:xfrm>
          <a:prstGeom prst="ellipse">
            <a:avLst/>
          </a:prstGeom>
          <a:solidFill>
            <a:srgbClr val="D2E7D6"/>
          </a:solidFill>
          <a:ln/>
        </p:spPr>
      </p:sp>
      <p:sp>
        <p:nvSpPr>
          <p:cNvPr id="9" name="Text 7"/>
          <p:cNvSpPr/>
          <p:nvPr/>
        </p:nvSpPr>
        <p:spPr>
          <a:xfrm>
            <a:off x="1751938" y="3559536"/>
            <a:ext cx="637958" cy="637956"/>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10" name="Shape 8"/>
          <p:cNvSpPr/>
          <p:nvPr/>
        </p:nvSpPr>
        <p:spPr>
          <a:xfrm>
            <a:off x="822298" y="1916791"/>
            <a:ext cx="637958" cy="637956"/>
          </a:xfrm>
          <a:prstGeom prst="ellipse">
            <a:avLst/>
          </a:prstGeom>
          <a:solidFill>
            <a:srgbClr val="77AD6F"/>
          </a:solidFill>
          <a:ln/>
        </p:spPr>
      </p:sp>
      <p:sp>
        <p:nvSpPr>
          <p:cNvPr id="11" name="Text 9"/>
          <p:cNvSpPr/>
          <p:nvPr/>
        </p:nvSpPr>
        <p:spPr>
          <a:xfrm>
            <a:off x="822298" y="1916791"/>
            <a:ext cx="637958" cy="637956"/>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12" name="Shape 10"/>
          <p:cNvSpPr/>
          <p:nvPr/>
        </p:nvSpPr>
        <p:spPr>
          <a:xfrm>
            <a:off x="3071468" y="5338806"/>
            <a:ext cx="637958" cy="637956"/>
          </a:xfrm>
          <a:prstGeom prst="ellipse">
            <a:avLst/>
          </a:prstGeom>
          <a:solidFill>
            <a:srgbClr val="77AD6F"/>
          </a:solidFill>
          <a:ln/>
        </p:spPr>
      </p:sp>
      <p:sp>
        <p:nvSpPr>
          <p:cNvPr id="13" name="Text 11"/>
          <p:cNvSpPr/>
          <p:nvPr/>
        </p:nvSpPr>
        <p:spPr>
          <a:xfrm>
            <a:off x="3071468" y="5338806"/>
            <a:ext cx="637958" cy="637956"/>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14" name="Shape 12"/>
          <p:cNvSpPr/>
          <p:nvPr/>
        </p:nvSpPr>
        <p:spPr>
          <a:xfrm>
            <a:off x="784199" y="2075110"/>
            <a:ext cx="665094" cy="295787"/>
          </a:xfrm>
          <a:prstGeom prst="rect">
            <a:avLst/>
          </a:prstGeom>
          <a:solidFill>
            <a:srgbClr val="000000">
              <a:alpha val="0"/>
            </a:srgbClr>
          </a:solidFill>
          <a:ln/>
        </p:spPr>
      </p:sp>
      <p:sp>
        <p:nvSpPr>
          <p:cNvPr id="15" name="Text 13"/>
          <p:cNvSpPr/>
          <p:nvPr/>
        </p:nvSpPr>
        <p:spPr>
          <a:xfrm>
            <a:off x="784199" y="2075110"/>
            <a:ext cx="665094" cy="295787"/>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01</a:t>
            </a:r>
            <a:endParaRPr lang="en-US" sz="1600" dirty="0"/>
          </a:p>
        </p:txBody>
      </p:sp>
      <p:sp>
        <p:nvSpPr>
          <p:cNvPr id="16" name="Shape 14"/>
          <p:cNvSpPr/>
          <p:nvPr/>
        </p:nvSpPr>
        <p:spPr>
          <a:xfrm>
            <a:off x="1725064" y="3730950"/>
            <a:ext cx="665094" cy="295787"/>
          </a:xfrm>
          <a:prstGeom prst="rect">
            <a:avLst/>
          </a:prstGeom>
          <a:solidFill>
            <a:srgbClr val="000000">
              <a:alpha val="0"/>
            </a:srgbClr>
          </a:solidFill>
          <a:ln/>
        </p:spPr>
      </p:sp>
      <p:sp>
        <p:nvSpPr>
          <p:cNvPr id="17" name="Text 15"/>
          <p:cNvSpPr/>
          <p:nvPr/>
        </p:nvSpPr>
        <p:spPr>
          <a:xfrm>
            <a:off x="1725064" y="3730950"/>
            <a:ext cx="665094" cy="295787"/>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02</a:t>
            </a:r>
            <a:endParaRPr lang="en-US" sz="1600" dirty="0"/>
          </a:p>
        </p:txBody>
      </p:sp>
      <p:sp>
        <p:nvSpPr>
          <p:cNvPr id="18" name="Shape 16"/>
          <p:cNvSpPr/>
          <p:nvPr/>
        </p:nvSpPr>
        <p:spPr>
          <a:xfrm>
            <a:off x="3057900" y="5527017"/>
            <a:ext cx="665094" cy="295787"/>
          </a:xfrm>
          <a:prstGeom prst="rect">
            <a:avLst/>
          </a:prstGeom>
          <a:solidFill>
            <a:srgbClr val="000000">
              <a:alpha val="0"/>
            </a:srgbClr>
          </a:solidFill>
          <a:ln/>
        </p:spPr>
      </p:sp>
      <p:sp>
        <p:nvSpPr>
          <p:cNvPr id="19" name="Text 17"/>
          <p:cNvSpPr/>
          <p:nvPr/>
        </p:nvSpPr>
        <p:spPr>
          <a:xfrm>
            <a:off x="3057900" y="5527017"/>
            <a:ext cx="665094" cy="295787"/>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03</a:t>
            </a:r>
            <a:endParaRPr lang="en-US" sz="1600" dirty="0"/>
          </a:p>
        </p:txBody>
      </p:sp>
      <p:sp>
        <p:nvSpPr>
          <p:cNvPr id="20" name="Text 18"/>
          <p:cNvSpPr/>
          <p:nvPr/>
        </p:nvSpPr>
        <p:spPr>
          <a:xfrm>
            <a:off x="1644650" y="1524000"/>
            <a:ext cx="8651240" cy="276225"/>
          </a:xfrm>
          <a:prstGeom prst="rect">
            <a:avLst/>
          </a:prstGeom>
          <a:noFill/>
          <a:ln/>
        </p:spPr>
        <p:txBody>
          <a:bodyPr wrap="square" lIns="45720" tIns="45720" rIns="45720" bIns="45720" rtlCol="0" anchor="t">
            <a:spAutoFit/>
          </a:bodyPr>
          <a:lstStyle/>
          <a:p>
            <a:pPr indent="0" marL="0">
              <a:lnSpc>
                <a:spcPct val="100000"/>
              </a:lnSpc>
              <a:buNone/>
            </a:pPr>
            <a:r>
              <a:rPr lang="en-US" sz="1800" dirty="0">
                <a:solidFill>
                  <a:srgbClr val="77AD6F"/>
                </a:solidFill>
                <a:latin typeface="MiSans" pitchFamily="34" charset="0"/>
                <a:ea typeface="MiSans" pitchFamily="34" charset="-122"/>
                <a:cs typeface="MiSans" pitchFamily="34" charset="-120"/>
              </a:rPr>
              <a:t>Sales Amount Calculation</a:t>
            </a:r>
            <a:endParaRPr lang="en-US" sz="1600" dirty="0"/>
          </a:p>
        </p:txBody>
      </p:sp>
      <p:sp>
        <p:nvSpPr>
          <p:cNvPr id="21" name="Text 19"/>
          <p:cNvSpPr/>
          <p:nvPr/>
        </p:nvSpPr>
        <p:spPr>
          <a:xfrm>
            <a:off x="1644650" y="1840230"/>
            <a:ext cx="8439785" cy="574873"/>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Sales Amount measure is calculated using Total Sales = SUMX( Sales, Sales[Unit Price] * Sales[Quantity] ).</a:t>
            </a:r>
            <a:endParaRPr lang="en-US" sz="1600" dirty="0"/>
          </a:p>
        </p:txBody>
      </p:sp>
      <p:sp>
        <p:nvSpPr>
          <p:cNvPr id="22" name="Text 20"/>
          <p:cNvSpPr/>
          <p:nvPr/>
        </p:nvSpPr>
        <p:spPr>
          <a:xfrm>
            <a:off x="2529840" y="3288030"/>
            <a:ext cx="7766050" cy="408940"/>
          </a:xfrm>
          <a:prstGeom prst="rect">
            <a:avLst/>
          </a:prstGeom>
          <a:noFill/>
          <a:ln/>
        </p:spPr>
        <p:txBody>
          <a:bodyPr wrap="square" lIns="45720" tIns="45720" rIns="45720" bIns="45720" rtlCol="0" anchor="t"/>
          <a:lstStyle/>
          <a:p>
            <a:pPr indent="0" marL="0">
              <a:lnSpc>
                <a:spcPct val="100000"/>
              </a:lnSpc>
              <a:buNone/>
            </a:pPr>
            <a:r>
              <a:rPr lang="en-US" sz="1800" dirty="0">
                <a:solidFill>
                  <a:srgbClr val="D2E7D6"/>
                </a:solidFill>
                <a:latin typeface="MiSans" pitchFamily="34" charset="0"/>
                <a:ea typeface="MiSans" pitchFamily="34" charset="-122"/>
                <a:cs typeface="MiSans" pitchFamily="34" charset="-120"/>
              </a:rPr>
              <a:t>Profit Calculation</a:t>
            </a:r>
            <a:endParaRPr lang="en-US" sz="1600" dirty="0"/>
          </a:p>
        </p:txBody>
      </p:sp>
      <p:sp>
        <p:nvSpPr>
          <p:cNvPr id="23" name="Text 21"/>
          <p:cNvSpPr/>
          <p:nvPr/>
        </p:nvSpPr>
        <p:spPr>
          <a:xfrm>
            <a:off x="2529840" y="3604260"/>
            <a:ext cx="8513445" cy="287338"/>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FFFFFF"/>
                </a:solidFill>
                <a:latin typeface="MiSans" pitchFamily="34" charset="0"/>
                <a:ea typeface="MiSans" pitchFamily="34" charset="-122"/>
                <a:cs typeface="MiSans" pitchFamily="34" charset="-120"/>
              </a:rPr>
              <a:t>Profit is calculated as Profit = SUMX (Sales, Sales[Cost] - Sales[Unit Price]) . </a:t>
            </a:r>
            <a:endParaRPr lang="en-US" sz="1600" dirty="0"/>
          </a:p>
        </p:txBody>
      </p:sp>
      <p:sp>
        <p:nvSpPr>
          <p:cNvPr id="24" name="Text 22"/>
          <p:cNvSpPr/>
          <p:nvPr/>
        </p:nvSpPr>
        <p:spPr>
          <a:xfrm>
            <a:off x="4034790" y="4991100"/>
            <a:ext cx="7766685" cy="276225"/>
          </a:xfrm>
          <a:prstGeom prst="rect">
            <a:avLst/>
          </a:prstGeom>
          <a:noFill/>
          <a:ln/>
        </p:spPr>
        <p:txBody>
          <a:bodyPr wrap="square" lIns="45720" tIns="45720" rIns="45720" bIns="45720" rtlCol="0" anchor="t">
            <a:spAutoFit/>
          </a:bodyPr>
          <a:lstStyle/>
          <a:p>
            <a:pPr indent="0" marL="0">
              <a:lnSpc>
                <a:spcPct val="100000"/>
              </a:lnSpc>
              <a:buNone/>
            </a:pPr>
            <a:r>
              <a:rPr lang="en-US" sz="1800" dirty="0">
                <a:solidFill>
                  <a:srgbClr val="77AD6F"/>
                </a:solidFill>
                <a:latin typeface="MiSans" pitchFamily="34" charset="0"/>
                <a:ea typeface="MiSans" pitchFamily="34" charset="-122"/>
                <a:cs typeface="MiSans" pitchFamily="34" charset="-120"/>
              </a:rPr>
              <a:t>Profit Margin Calculation</a:t>
            </a:r>
            <a:endParaRPr lang="en-US" sz="1600" dirty="0"/>
          </a:p>
        </p:txBody>
      </p:sp>
      <p:sp>
        <p:nvSpPr>
          <p:cNvPr id="25" name="Text 23"/>
          <p:cNvSpPr/>
          <p:nvPr/>
        </p:nvSpPr>
        <p:spPr>
          <a:xfrm>
            <a:off x="4034790" y="5307330"/>
            <a:ext cx="7766685" cy="287338"/>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Profit Margin is computed using Profit Margin = [Profit] / [Total Sales]. </a:t>
            </a:r>
            <a:endParaRPr lang="en-US" sz="1600" dirty="0"/>
          </a:p>
        </p:txBody>
      </p:sp>
      <p:sp>
        <p:nvSpPr>
          <p:cNvPr id="26" name="Text 24"/>
          <p:cNvSpPr/>
          <p:nvPr/>
        </p:nvSpPr>
        <p:spPr>
          <a:xfrm>
            <a:off x="584835" y="521335"/>
            <a:ext cx="10981055" cy="964565"/>
          </a:xfrm>
          <a:prstGeom prst="rect">
            <a:avLst/>
          </a:prstGeom>
          <a:noFill/>
          <a:ln/>
        </p:spPr>
        <p:txBody>
          <a:bodyPr wrap="square" lIns="0" tIns="0" rIns="0" bIns="0" rtlCol="0" anchor="t"/>
          <a:lstStyle/>
          <a:p>
            <a:pPr indent="0" marL="0">
              <a:lnSpc>
                <a:spcPct val="100000"/>
              </a:lnSpc>
              <a:buNone/>
            </a:pPr>
            <a:r>
              <a:rPr lang="en-US" sz="3600" dirty="0">
                <a:solidFill>
                  <a:srgbClr val="77AD6F"/>
                </a:solidFill>
                <a:latin typeface="MiSans" pitchFamily="34" charset="0"/>
                <a:ea typeface="MiSans" pitchFamily="34" charset="-122"/>
                <a:cs typeface="MiSans" pitchFamily="34" charset="-120"/>
              </a:rPr>
              <a:t>Core Sales Measures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3422015" y="726440"/>
            <a:ext cx="5753602" cy="5753602"/>
          </a:xfrm>
          <a:prstGeom prst="ellipse">
            <a:avLst/>
          </a:prstGeom>
          <a:solidFill>
            <a:srgbClr val="D2E7D6"/>
          </a:solidFill>
          <a:ln/>
        </p:spPr>
      </p:sp>
      <p:sp>
        <p:nvSpPr>
          <p:cNvPr id="3" name="Text 1"/>
          <p:cNvSpPr/>
          <p:nvPr/>
        </p:nvSpPr>
        <p:spPr>
          <a:xfrm>
            <a:off x="3422015" y="726440"/>
            <a:ext cx="5753602" cy="5753602"/>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Text 2"/>
          <p:cNvSpPr/>
          <p:nvPr/>
        </p:nvSpPr>
        <p:spPr>
          <a:xfrm>
            <a:off x="3575490" y="3468524"/>
            <a:ext cx="5445515" cy="1887172"/>
          </a:xfrm>
          <a:prstGeom prst="rect">
            <a:avLst/>
          </a:prstGeom>
          <a:noFill/>
          <a:ln/>
        </p:spPr>
        <p:txBody>
          <a:bodyPr wrap="square" lIns="0" tIns="0" rIns="0" bIns="0" rtlCol="0" anchor="t"/>
          <a:lstStyle/>
          <a:p>
            <a:pPr algn="ctr" indent="0" marL="0">
              <a:lnSpc>
                <a:spcPct val="100000"/>
              </a:lnSpc>
              <a:buNone/>
            </a:pPr>
            <a:r>
              <a:rPr lang="en-US" sz="4400" dirty="0">
                <a:solidFill>
                  <a:srgbClr val="000000"/>
                </a:solidFill>
                <a:latin typeface="MiSans" pitchFamily="34" charset="0"/>
                <a:ea typeface="MiSans" pitchFamily="34" charset="-122"/>
                <a:cs typeface="MiSans" pitchFamily="34" charset="-120"/>
              </a:rPr>
              <a:t>Visual Layer</a:t>
            </a:r>
            <a:endParaRPr lang="en-US" sz="1600" dirty="0"/>
          </a:p>
        </p:txBody>
      </p:sp>
      <p:sp>
        <p:nvSpPr>
          <p:cNvPr id="5" name="Text 3"/>
          <p:cNvSpPr/>
          <p:nvPr/>
        </p:nvSpPr>
        <p:spPr>
          <a:xfrm>
            <a:off x="3575490" y="1609773"/>
            <a:ext cx="5445515" cy="1887172"/>
          </a:xfrm>
          <a:prstGeom prst="rect">
            <a:avLst/>
          </a:prstGeom>
          <a:noFill/>
          <a:ln/>
        </p:spPr>
        <p:txBody>
          <a:bodyPr wrap="square" lIns="0" tIns="0" rIns="0" bIns="0" rtlCol="0" anchor="t"/>
          <a:lstStyle/>
          <a:p>
            <a:pPr algn="ctr" indent="0" marL="0">
              <a:lnSpc>
                <a:spcPct val="100000"/>
              </a:lnSpc>
              <a:buNone/>
            </a:pPr>
            <a:r>
              <a:rPr lang="en-US" sz="9600" b="1" dirty="0">
                <a:solidFill>
                  <a:srgbClr val="77AD6F"/>
                </a:solidFill>
                <a:latin typeface="MiSans" pitchFamily="34" charset="0"/>
                <a:ea typeface="MiSans" pitchFamily="34" charset="-122"/>
                <a:cs typeface="MiSans" pitchFamily="34" charset="-120"/>
              </a:rPr>
              <a:t>03</a:t>
            </a:r>
            <a:endParaRPr lang="en-US" sz="1600" dirty="0"/>
          </a:p>
        </p:txBody>
      </p:sp>
      <p:sp>
        <p:nvSpPr>
          <p:cNvPr id="6" name="Shape 4"/>
          <p:cNvSpPr/>
          <p:nvPr/>
        </p:nvSpPr>
        <p:spPr>
          <a:xfrm>
            <a:off x="-970280" y="-1332230"/>
            <a:ext cx="4229735" cy="4229735"/>
          </a:xfrm>
          <a:prstGeom prst="ellipse">
            <a:avLst/>
          </a:prstGeom>
          <a:solidFill>
            <a:srgbClr val="D2E7D6"/>
          </a:solidFill>
          <a:ln/>
        </p:spPr>
      </p:sp>
      <p:sp>
        <p:nvSpPr>
          <p:cNvPr id="7" name="Text 5"/>
          <p:cNvSpPr/>
          <p:nvPr/>
        </p:nvSpPr>
        <p:spPr>
          <a:xfrm>
            <a:off x="-97028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970280" y="4128770"/>
            <a:ext cx="4229735" cy="4229735"/>
          </a:xfrm>
          <a:prstGeom prst="ellipse">
            <a:avLst/>
          </a:prstGeom>
          <a:solidFill>
            <a:srgbClr val="D2E7D6"/>
          </a:solidFill>
          <a:ln/>
        </p:spPr>
      </p:sp>
      <p:sp>
        <p:nvSpPr>
          <p:cNvPr id="9" name="Text 7"/>
          <p:cNvSpPr/>
          <p:nvPr/>
        </p:nvSpPr>
        <p:spPr>
          <a:xfrm>
            <a:off x="-97028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9519920" y="-1332230"/>
            <a:ext cx="4229735" cy="4229735"/>
          </a:xfrm>
          <a:prstGeom prst="ellipse">
            <a:avLst/>
          </a:prstGeom>
          <a:solidFill>
            <a:srgbClr val="D2E7D6"/>
          </a:solidFill>
          <a:ln/>
        </p:spPr>
      </p:sp>
      <p:sp>
        <p:nvSpPr>
          <p:cNvPr id="11" name="Text 9"/>
          <p:cNvSpPr/>
          <p:nvPr/>
        </p:nvSpPr>
        <p:spPr>
          <a:xfrm>
            <a:off x="951992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519920" y="4128770"/>
            <a:ext cx="4229735" cy="4229735"/>
          </a:xfrm>
          <a:prstGeom prst="ellipse">
            <a:avLst/>
          </a:prstGeom>
          <a:solidFill>
            <a:srgbClr val="D2E7D6"/>
          </a:solidFill>
          <a:ln/>
        </p:spPr>
      </p:sp>
      <p:sp>
        <p:nvSpPr>
          <p:cNvPr id="13" name="Text 11"/>
          <p:cNvSpPr/>
          <p:nvPr/>
        </p:nvSpPr>
        <p:spPr>
          <a:xfrm>
            <a:off x="951992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85083" y="521335"/>
            <a:ext cx="8170863" cy="562570"/>
          </a:xfrm>
          <a:prstGeom prst="rect">
            <a:avLst/>
          </a:prstGeom>
          <a:noFill/>
          <a:ln/>
        </p:spPr>
        <p:txBody>
          <a:bodyPr wrap="square" lIns="0" tIns="0" rIns="0" bIns="0" rtlCol="0" anchor="t">
            <a:spAutoFit/>
          </a:bodyPr>
          <a:lstStyle/>
          <a:p>
            <a:pPr indent="0" marL="0">
              <a:lnSpc>
                <a:spcPct val="100000"/>
              </a:lnSpc>
              <a:buNone/>
            </a:pPr>
            <a:r>
              <a:rPr lang="en-US" sz="3600" dirty="0">
                <a:solidFill>
                  <a:srgbClr val="77AD6F"/>
                </a:solidFill>
                <a:latin typeface="MiSans" pitchFamily="34" charset="0"/>
                <a:ea typeface="MiSans" pitchFamily="34" charset="-122"/>
                <a:cs typeface="MiSans" pitchFamily="34" charset="-120"/>
              </a:rPr>
              <a:t>Report Page Structure</a:t>
            </a:r>
            <a:endParaRPr lang="en-US" sz="1600" dirty="0"/>
          </a:p>
        </p:txBody>
      </p:sp>
      <p:sp>
        <p:nvSpPr>
          <p:cNvPr id="3" name="Shape 1"/>
          <p:cNvSpPr/>
          <p:nvPr/>
        </p:nvSpPr>
        <p:spPr>
          <a:xfrm>
            <a:off x="4084955" y="1428115"/>
            <a:ext cx="7909560" cy="1700530"/>
          </a:xfrm>
          <a:prstGeom prst="roundRect">
            <a:avLst>
              <a:gd name="adj" fmla="val 4248"/>
            </a:avLst>
          </a:prstGeom>
          <a:solidFill>
            <a:srgbClr val="D2E7D6"/>
          </a:solidFill>
          <a:ln/>
        </p:spPr>
      </p:sp>
      <p:sp>
        <p:nvSpPr>
          <p:cNvPr id="4" name="Text 2"/>
          <p:cNvSpPr/>
          <p:nvPr/>
        </p:nvSpPr>
        <p:spPr>
          <a:xfrm>
            <a:off x="4084955" y="1428115"/>
            <a:ext cx="7909560" cy="1700530"/>
          </a:xfrm>
          <a:prstGeom prst="rect">
            <a:avLst/>
          </a:prstGeom>
          <a:noFill/>
          <a:ln/>
        </p:spPr>
        <p:txBody>
          <a:bodyPr wrap="square" lIns="0" tIns="0" rIns="0" bIns="0" rtlCol="0" anchor="t"/>
          <a:lstStyle/>
          <a:p>
            <a:pPr indent="0" marL="0">
              <a:lnSpc>
                <a:spcPct val="100000"/>
              </a:lnSpc>
              <a:buNone/>
            </a:pPr>
            <a:endParaRPr lang="en-US" sz="1600" dirty="0"/>
          </a:p>
        </p:txBody>
      </p:sp>
      <p:sp>
        <p:nvSpPr>
          <p:cNvPr id="5" name="Shape 3"/>
          <p:cNvSpPr/>
          <p:nvPr/>
        </p:nvSpPr>
        <p:spPr>
          <a:xfrm>
            <a:off x="4084320" y="3265805"/>
            <a:ext cx="3896360" cy="2957195"/>
          </a:xfrm>
          <a:prstGeom prst="roundRect">
            <a:avLst>
              <a:gd name="adj" fmla="val 4248"/>
            </a:avLst>
          </a:prstGeom>
          <a:solidFill>
            <a:srgbClr val="77AD6F"/>
          </a:solidFill>
          <a:ln/>
        </p:spPr>
      </p:sp>
      <p:sp>
        <p:nvSpPr>
          <p:cNvPr id="6" name="Shape 4"/>
          <p:cNvSpPr/>
          <p:nvPr/>
        </p:nvSpPr>
        <p:spPr>
          <a:xfrm>
            <a:off x="8097520" y="3265805"/>
            <a:ext cx="3896360" cy="2957195"/>
          </a:xfrm>
          <a:prstGeom prst="roundRect">
            <a:avLst>
              <a:gd name="adj" fmla="val 4248"/>
            </a:avLst>
          </a:prstGeom>
          <a:solidFill>
            <a:srgbClr val="77AD6F"/>
          </a:solidFill>
          <a:ln/>
        </p:spPr>
      </p:sp>
      <p:sp>
        <p:nvSpPr>
          <p:cNvPr id="7" name="Text 5"/>
          <p:cNvSpPr/>
          <p:nvPr/>
        </p:nvSpPr>
        <p:spPr>
          <a:xfrm>
            <a:off x="8097520" y="3265805"/>
            <a:ext cx="3896360" cy="295719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Text 6"/>
          <p:cNvSpPr/>
          <p:nvPr/>
        </p:nvSpPr>
        <p:spPr>
          <a:xfrm>
            <a:off x="4311967" y="1648460"/>
            <a:ext cx="7455535" cy="1259840"/>
          </a:xfrm>
          <a:prstGeom prst="rect">
            <a:avLst/>
          </a:prstGeom>
          <a:noFill/>
          <a:ln/>
        </p:spPr>
        <p:txBody>
          <a:bodyPr wrap="square" lIns="45720" tIns="45720" rIns="45720" bIns="45720" rtlCol="0" anchor="t"/>
          <a:lstStyle/>
          <a:p>
            <a:pPr indent="0" marL="0">
              <a:lnSpc>
                <a:spcPct val="130000"/>
              </a:lnSpc>
              <a:buNone/>
            </a:pPr>
            <a:r>
              <a:rPr lang="en-US" sz="1400" dirty="0">
                <a:solidFill>
                  <a:srgbClr val="77AD6F"/>
                </a:solidFill>
                <a:latin typeface="MiSans" pitchFamily="34" charset="0"/>
                <a:ea typeface="MiSans" pitchFamily="34" charset="-122"/>
                <a:cs typeface="MiSans" pitchFamily="34" charset="-120"/>
              </a:rPr>
              <a:t>The report was developed in Power BI using the Adventure Works 2020 dataset. It includes a Home page that serves as the main navigation hub, linking to three main sections: Sales, Product, and Map. Each page also includes a button to return to the Home page, ensuring smooth and intuitive navigation.</a:t>
            </a:r>
            <a:endParaRPr lang="en-US" sz="1600" dirty="0"/>
          </a:p>
        </p:txBody>
      </p:sp>
      <p:sp>
        <p:nvSpPr>
          <p:cNvPr id="9" name="Text 7"/>
          <p:cNvSpPr/>
          <p:nvPr/>
        </p:nvSpPr>
        <p:spPr>
          <a:xfrm>
            <a:off x="4285615" y="3369310"/>
            <a:ext cx="3569970" cy="767715"/>
          </a:xfrm>
          <a:prstGeom prst="rect">
            <a:avLst/>
          </a:prstGeom>
          <a:noFill/>
          <a:ln/>
        </p:spPr>
        <p:txBody>
          <a:bodyPr wrap="square" lIns="45720" tIns="45720" rIns="45720" bIns="45720" rtlCol="0" anchor="ctr"/>
          <a:lstStyle/>
          <a:p>
            <a:pPr indent="0" marL="0">
              <a:lnSpc>
                <a:spcPct val="100000"/>
              </a:lnSpc>
              <a:buNone/>
            </a:pPr>
            <a:r>
              <a:rPr lang="en-US" sz="1800" dirty="0">
                <a:solidFill>
                  <a:srgbClr val="FFFFFF"/>
                </a:solidFill>
                <a:latin typeface="MiSans" pitchFamily="34" charset="0"/>
                <a:ea typeface="MiSans" pitchFamily="34" charset="-122"/>
                <a:cs typeface="MiSans" pitchFamily="34" charset="-120"/>
              </a:rPr>
              <a:t>Drill-Through Feature</a:t>
            </a:r>
            <a:endParaRPr lang="en-US" sz="1600" dirty="0"/>
          </a:p>
        </p:txBody>
      </p:sp>
      <p:sp>
        <p:nvSpPr>
          <p:cNvPr id="10" name="Text 8"/>
          <p:cNvSpPr/>
          <p:nvPr/>
        </p:nvSpPr>
        <p:spPr>
          <a:xfrm>
            <a:off x="4284980" y="3903996"/>
            <a:ext cx="3695700" cy="2540635"/>
          </a:xfrm>
          <a:prstGeom prst="rect">
            <a:avLst/>
          </a:prstGeom>
          <a:noFill/>
          <a:ln/>
        </p:spPr>
        <p:txBody>
          <a:bodyPr wrap="square" lIns="45720" tIns="45720" rIns="45720" bIns="45720" rtlCol="0" anchor="t"/>
          <a:lstStyle/>
          <a:p>
            <a:pPr indent="0" marL="0">
              <a:lnSpc>
                <a:spcPct val="130000"/>
              </a:lnSpc>
              <a:buNone/>
            </a:pPr>
            <a:r>
              <a:rPr lang="en-US" sz="1400" dirty="0">
                <a:solidFill>
                  <a:srgbClr val="FFFFFF"/>
                </a:solidFill>
                <a:latin typeface="MiSans" pitchFamily="34" charset="0"/>
                <a:ea typeface="MiSans" pitchFamily="34" charset="-122"/>
                <a:cs typeface="MiSans" pitchFamily="34" charset="-120"/>
              </a:rPr>
              <a:t>The Product page contains a Drill-Through functionality that allows users to select a product category and view detailed information about it. This enhances interactivity and supports deeper data exploration.</a:t>
            </a:r>
            <a:endParaRPr lang="en-US" sz="1600" dirty="0"/>
          </a:p>
        </p:txBody>
      </p:sp>
      <p:sp>
        <p:nvSpPr>
          <p:cNvPr id="11" name="Text 9"/>
          <p:cNvSpPr/>
          <p:nvPr/>
        </p:nvSpPr>
        <p:spPr>
          <a:xfrm>
            <a:off x="8298815" y="3369310"/>
            <a:ext cx="3569970" cy="767715"/>
          </a:xfrm>
          <a:prstGeom prst="rect">
            <a:avLst/>
          </a:prstGeom>
          <a:noFill/>
          <a:ln/>
        </p:spPr>
        <p:txBody>
          <a:bodyPr wrap="square" lIns="45720" tIns="45720" rIns="45720" bIns="45720" rtlCol="0" anchor="ctr"/>
          <a:lstStyle/>
          <a:p>
            <a:pPr indent="0" marL="0">
              <a:lnSpc>
                <a:spcPct val="100000"/>
              </a:lnSpc>
              <a:buNone/>
            </a:pPr>
            <a:r>
              <a:rPr lang="en-US" sz="1800" dirty="0">
                <a:solidFill>
                  <a:srgbClr val="FFFFFF"/>
                </a:solidFill>
                <a:latin typeface="MiSans" pitchFamily="34" charset="0"/>
                <a:ea typeface="MiSans" pitchFamily="34" charset="-122"/>
                <a:cs typeface="MiSans" pitchFamily="34" charset="-120"/>
              </a:rPr>
              <a:t>Visual Tooltip and Drill-Down</a:t>
            </a:r>
            <a:endParaRPr lang="en-US" sz="1600" dirty="0"/>
          </a:p>
        </p:txBody>
      </p:sp>
      <p:sp>
        <p:nvSpPr>
          <p:cNvPr id="12" name="Text 10"/>
          <p:cNvSpPr/>
          <p:nvPr/>
        </p:nvSpPr>
        <p:spPr>
          <a:xfrm>
            <a:off x="8298815" y="3903996"/>
            <a:ext cx="3695700" cy="2540635"/>
          </a:xfrm>
          <a:prstGeom prst="rect">
            <a:avLst/>
          </a:prstGeom>
          <a:noFill/>
          <a:ln/>
        </p:spPr>
        <p:txBody>
          <a:bodyPr wrap="square" lIns="45720" tIns="45720" rIns="45720" bIns="45720" rtlCol="0" anchor="t"/>
          <a:lstStyle/>
          <a:p>
            <a:pPr indent="0" marL="0">
              <a:lnSpc>
                <a:spcPct val="130000"/>
              </a:lnSpc>
              <a:buNone/>
            </a:pPr>
            <a:r>
              <a:rPr lang="en-US" sz="1400" dirty="0">
                <a:solidFill>
                  <a:srgbClr val="FFFFFF"/>
                </a:solidFill>
                <a:latin typeface="MiSans" pitchFamily="34" charset="0"/>
                <a:ea typeface="MiSans" pitchFamily="34" charset="-122"/>
                <a:cs typeface="MiSans" pitchFamily="34" charset="-120"/>
              </a:rPr>
              <a:t>On the Sales page, a Visual Tooltip displays the </a:t>
            </a:r>
            <a:pPr indent="0" marL="0">
              <a:lnSpc>
                <a:spcPct val="130000"/>
              </a:lnSpc>
              <a:buNone/>
            </a:pPr>
            <a:r>
              <a:rPr lang="en-US" sz="1400" i="1" dirty="0">
                <a:solidFill>
                  <a:srgbClr val="FFFFFF"/>
                </a:solidFill>
                <a:latin typeface="MiSans" pitchFamily="34" charset="0"/>
                <a:ea typeface="MiSans" pitchFamily="34" charset="-122"/>
                <a:cs typeface="MiSans" pitchFamily="34" charset="-120"/>
              </a:rPr>
              <a:t>Sum of Sales by Category</a:t>
            </a:r>
            <a:pPr indent="0" marL="0">
              <a:lnSpc>
                <a:spcPct val="130000"/>
              </a:lnSpc>
              <a:buNone/>
            </a:pPr>
            <a:r>
              <a:rPr lang="en-US" sz="1400" dirty="0">
                <a:solidFill>
                  <a:srgbClr val="FFFFFF"/>
                </a:solidFill>
                <a:latin typeface="MiSans" pitchFamily="34" charset="0"/>
                <a:ea typeface="MiSans" pitchFamily="34" charset="-122"/>
                <a:cs typeface="MiSans" pitchFamily="34" charset="-120"/>
              </a:rPr>
              <a:t> when hovering over each year. Users can also drill down and up through different time periods from Year to Quarter and Month to analyze sales trends at multiple levels of detail.</a:t>
            </a:r>
            <a:endParaRPr lang="en-US" sz="1600" dirty="0"/>
          </a:p>
        </p:txBody>
      </p:sp>
      <p:sp>
        <p:nvSpPr>
          <p:cNvPr id="13" name="Shape 11"/>
          <p:cNvSpPr/>
          <p:nvPr/>
        </p:nvSpPr>
        <p:spPr>
          <a:xfrm>
            <a:off x="585083" y="2032921"/>
            <a:ext cx="2730804" cy="2957195"/>
          </a:xfrm>
          <a:prstGeom prst="roundRect">
            <a:avLst>
              <a:gd name="adj" fmla="val 4248"/>
            </a:avLst>
          </a:prstGeom>
          <a:solidFill>
            <a:srgbClr val="D2E7D6"/>
          </a:solidFill>
          <a:ln/>
        </p:spPr>
      </p:sp>
      <p:sp>
        <p:nvSpPr>
          <p:cNvPr id="14" name="Text 12"/>
          <p:cNvSpPr/>
          <p:nvPr/>
        </p:nvSpPr>
        <p:spPr>
          <a:xfrm>
            <a:off x="637629" y="2020221"/>
            <a:ext cx="1931664" cy="792361"/>
          </a:xfrm>
          <a:prstGeom prst="rect">
            <a:avLst/>
          </a:prstGeom>
          <a:noFill/>
          <a:ln/>
        </p:spPr>
        <p:txBody>
          <a:bodyPr wrap="square" lIns="91440" tIns="45720" rIns="91440" bIns="45720" rtlCol="0" anchor="t"/>
          <a:lstStyle/>
          <a:p>
            <a:pPr indent="0" marL="0">
              <a:lnSpc>
                <a:spcPct val="100000"/>
              </a:lnSpc>
              <a:buNone/>
            </a:pPr>
            <a:r>
              <a:rPr lang="en-US" sz="1800" dirty="0">
                <a:solidFill>
                  <a:srgbClr val="77AD6F"/>
                </a:solidFill>
                <a:latin typeface="MiSans" pitchFamily="34" charset="0"/>
                <a:ea typeface="MiSans" pitchFamily="34" charset="-122"/>
                <a:cs typeface="MiSans" pitchFamily="34" charset="-120"/>
              </a:rPr>
              <a:t>Mobile Layout</a:t>
            </a:r>
            <a:endParaRPr lang="en-US" sz="1600" dirty="0"/>
          </a:p>
        </p:txBody>
      </p:sp>
      <p:sp>
        <p:nvSpPr>
          <p:cNvPr id="15" name="Text 13"/>
          <p:cNvSpPr/>
          <p:nvPr/>
        </p:nvSpPr>
        <p:spPr>
          <a:xfrm>
            <a:off x="637629" y="2391172"/>
            <a:ext cx="2678258" cy="1034256"/>
          </a:xfrm>
          <a:prstGeom prst="rect">
            <a:avLst/>
          </a:prstGeom>
          <a:noFill/>
          <a:ln/>
        </p:spPr>
        <p:txBody>
          <a:bodyPr wrap="square" lIns="91440" tIns="45720" rIns="91440" bIns="45720" rtlCol="0" anchor="t"/>
          <a:lstStyle/>
          <a:p>
            <a:pPr indent="0" marL="0">
              <a:lnSpc>
                <a:spcPct val="100000"/>
              </a:lnSpc>
              <a:buNone/>
            </a:pPr>
            <a:r>
              <a:rPr lang="en-US" sz="1400" dirty="0">
                <a:solidFill>
                  <a:srgbClr val="77AD6F"/>
                </a:solidFill>
                <a:latin typeface="MiSans" pitchFamily="34" charset="0"/>
                <a:ea typeface="MiSans" pitchFamily="34" charset="-122"/>
                <a:cs typeface="MiSans" pitchFamily="34" charset="-120"/>
              </a:rPr>
              <a:t>A mobile friendly layout was created to make the dashboard accessible and easy to use on smaller screens while maintaining visual clarity and performance.</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3422015" y="726440"/>
            <a:ext cx="5753602" cy="5753602"/>
          </a:xfrm>
          <a:prstGeom prst="ellipse">
            <a:avLst/>
          </a:prstGeom>
          <a:solidFill>
            <a:srgbClr val="D2E7D6"/>
          </a:solidFill>
          <a:ln/>
        </p:spPr>
      </p:sp>
      <p:sp>
        <p:nvSpPr>
          <p:cNvPr id="3" name="Text 1"/>
          <p:cNvSpPr/>
          <p:nvPr/>
        </p:nvSpPr>
        <p:spPr>
          <a:xfrm>
            <a:off x="3422015" y="726440"/>
            <a:ext cx="5753602" cy="5753602"/>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Text 2"/>
          <p:cNvSpPr/>
          <p:nvPr/>
        </p:nvSpPr>
        <p:spPr>
          <a:xfrm>
            <a:off x="3575490" y="3468524"/>
            <a:ext cx="5445515" cy="1887172"/>
          </a:xfrm>
          <a:prstGeom prst="rect">
            <a:avLst/>
          </a:prstGeom>
          <a:noFill/>
          <a:ln/>
        </p:spPr>
        <p:txBody>
          <a:bodyPr wrap="square" lIns="0" tIns="0" rIns="0" bIns="0" rtlCol="0" anchor="t"/>
          <a:lstStyle/>
          <a:p>
            <a:pPr algn="ctr" indent="0" marL="0">
              <a:lnSpc>
                <a:spcPct val="100000"/>
              </a:lnSpc>
              <a:buNone/>
            </a:pPr>
            <a:r>
              <a:rPr lang="en-US" sz="4400" dirty="0">
                <a:solidFill>
                  <a:srgbClr val="000000"/>
                </a:solidFill>
                <a:latin typeface="MiSans" pitchFamily="34" charset="0"/>
                <a:ea typeface="MiSans" pitchFamily="34" charset="-122"/>
                <a:cs typeface="MiSans" pitchFamily="34" charset="-120"/>
              </a:rPr>
              <a:t>Key Insights</a:t>
            </a:r>
            <a:endParaRPr lang="en-US" sz="1600" dirty="0"/>
          </a:p>
        </p:txBody>
      </p:sp>
      <p:sp>
        <p:nvSpPr>
          <p:cNvPr id="5" name="Text 3"/>
          <p:cNvSpPr/>
          <p:nvPr/>
        </p:nvSpPr>
        <p:spPr>
          <a:xfrm>
            <a:off x="3575490" y="1609773"/>
            <a:ext cx="5445515" cy="1887172"/>
          </a:xfrm>
          <a:prstGeom prst="rect">
            <a:avLst/>
          </a:prstGeom>
          <a:noFill/>
          <a:ln/>
        </p:spPr>
        <p:txBody>
          <a:bodyPr wrap="square" lIns="0" tIns="0" rIns="0" bIns="0" rtlCol="0" anchor="t"/>
          <a:lstStyle/>
          <a:p>
            <a:pPr algn="ctr" indent="0" marL="0">
              <a:lnSpc>
                <a:spcPct val="100000"/>
              </a:lnSpc>
              <a:buNone/>
            </a:pPr>
            <a:r>
              <a:rPr lang="en-US" sz="9600" b="1" dirty="0">
                <a:solidFill>
                  <a:srgbClr val="77AD6F"/>
                </a:solidFill>
                <a:latin typeface="MiSans" pitchFamily="34" charset="0"/>
                <a:ea typeface="MiSans" pitchFamily="34" charset="-122"/>
                <a:cs typeface="MiSans" pitchFamily="34" charset="-120"/>
              </a:rPr>
              <a:t>04</a:t>
            </a:r>
            <a:endParaRPr lang="en-US" sz="1600" dirty="0"/>
          </a:p>
        </p:txBody>
      </p:sp>
      <p:sp>
        <p:nvSpPr>
          <p:cNvPr id="6" name="Shape 4"/>
          <p:cNvSpPr/>
          <p:nvPr/>
        </p:nvSpPr>
        <p:spPr>
          <a:xfrm>
            <a:off x="-970280" y="-1332230"/>
            <a:ext cx="4229735" cy="4229735"/>
          </a:xfrm>
          <a:prstGeom prst="ellipse">
            <a:avLst/>
          </a:prstGeom>
          <a:solidFill>
            <a:srgbClr val="D2E7D6"/>
          </a:solidFill>
          <a:ln/>
        </p:spPr>
      </p:sp>
      <p:sp>
        <p:nvSpPr>
          <p:cNvPr id="7" name="Text 5"/>
          <p:cNvSpPr/>
          <p:nvPr/>
        </p:nvSpPr>
        <p:spPr>
          <a:xfrm>
            <a:off x="-97028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970280" y="4128770"/>
            <a:ext cx="4229735" cy="4229735"/>
          </a:xfrm>
          <a:prstGeom prst="ellipse">
            <a:avLst/>
          </a:prstGeom>
          <a:solidFill>
            <a:srgbClr val="D2E7D6"/>
          </a:solidFill>
          <a:ln/>
        </p:spPr>
      </p:sp>
      <p:sp>
        <p:nvSpPr>
          <p:cNvPr id="9" name="Text 7"/>
          <p:cNvSpPr/>
          <p:nvPr/>
        </p:nvSpPr>
        <p:spPr>
          <a:xfrm>
            <a:off x="-97028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9519920" y="-1332230"/>
            <a:ext cx="4229735" cy="4229735"/>
          </a:xfrm>
          <a:prstGeom prst="ellipse">
            <a:avLst/>
          </a:prstGeom>
          <a:solidFill>
            <a:srgbClr val="D2E7D6"/>
          </a:solidFill>
          <a:ln/>
        </p:spPr>
      </p:sp>
      <p:sp>
        <p:nvSpPr>
          <p:cNvPr id="11" name="Text 9"/>
          <p:cNvSpPr/>
          <p:nvPr/>
        </p:nvSpPr>
        <p:spPr>
          <a:xfrm>
            <a:off x="951992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519920" y="4128770"/>
            <a:ext cx="4229735" cy="4229735"/>
          </a:xfrm>
          <a:prstGeom prst="ellipse">
            <a:avLst/>
          </a:prstGeom>
          <a:solidFill>
            <a:srgbClr val="D2E7D6"/>
          </a:solidFill>
          <a:ln/>
        </p:spPr>
      </p:sp>
      <p:sp>
        <p:nvSpPr>
          <p:cNvPr id="13" name="Text 11"/>
          <p:cNvSpPr/>
          <p:nvPr/>
        </p:nvSpPr>
        <p:spPr>
          <a:xfrm>
            <a:off x="951992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6200000">
            <a:off x="5199872" y="-3976936"/>
            <a:ext cx="2100866" cy="11892280"/>
          </a:xfrm>
          <a:prstGeom prst="round2SameRect">
            <a:avLst>
              <a:gd name="adj1" fmla="val 50000"/>
              <a:gd name="adj2" fmla="val 0"/>
            </a:avLst>
          </a:prstGeom>
          <a:solidFill>
            <a:srgbClr val="D2E7D6"/>
          </a:solidFill>
          <a:ln/>
        </p:spPr>
      </p:sp>
      <p:sp>
        <p:nvSpPr>
          <p:cNvPr id="3" name="Shape 1"/>
          <p:cNvSpPr/>
          <p:nvPr/>
        </p:nvSpPr>
        <p:spPr>
          <a:xfrm rot="16200000">
            <a:off x="5765744" y="-688425"/>
            <a:ext cx="1934957" cy="10926445"/>
          </a:xfrm>
          <a:prstGeom prst="round2SameRect">
            <a:avLst>
              <a:gd name="adj1" fmla="val 50000"/>
              <a:gd name="adj2" fmla="val 0"/>
            </a:avLst>
          </a:prstGeom>
          <a:solidFill>
            <a:srgbClr val="77AD6F"/>
          </a:solidFill>
          <a:ln/>
        </p:spPr>
      </p:sp>
      <p:sp>
        <p:nvSpPr>
          <p:cNvPr id="4" name="Text 2"/>
          <p:cNvSpPr/>
          <p:nvPr/>
        </p:nvSpPr>
        <p:spPr>
          <a:xfrm rot="16200000">
            <a:off x="5765744" y="-688425"/>
            <a:ext cx="1934957" cy="1092644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Shape 3"/>
          <p:cNvSpPr/>
          <p:nvPr/>
        </p:nvSpPr>
        <p:spPr>
          <a:xfrm>
            <a:off x="1408268" y="4455820"/>
            <a:ext cx="637958" cy="637956"/>
          </a:xfrm>
          <a:prstGeom prst="ellipse">
            <a:avLst/>
          </a:prstGeom>
          <a:solidFill>
            <a:srgbClr val="D2E7D6"/>
          </a:solidFill>
          <a:ln/>
        </p:spPr>
      </p:sp>
      <p:sp>
        <p:nvSpPr>
          <p:cNvPr id="6" name="Shape 4"/>
          <p:cNvSpPr/>
          <p:nvPr/>
        </p:nvSpPr>
        <p:spPr>
          <a:xfrm>
            <a:off x="592355" y="1609641"/>
            <a:ext cx="637958" cy="637956"/>
          </a:xfrm>
          <a:prstGeom prst="ellipse">
            <a:avLst/>
          </a:prstGeom>
          <a:solidFill>
            <a:srgbClr val="77AD6F"/>
          </a:solidFill>
          <a:ln/>
        </p:spPr>
      </p:sp>
      <p:sp>
        <p:nvSpPr>
          <p:cNvPr id="7" name="Text 5"/>
          <p:cNvSpPr/>
          <p:nvPr/>
        </p:nvSpPr>
        <p:spPr>
          <a:xfrm>
            <a:off x="592355" y="1609641"/>
            <a:ext cx="637958" cy="637956"/>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8" name="Shape 6"/>
          <p:cNvSpPr/>
          <p:nvPr/>
        </p:nvSpPr>
        <p:spPr>
          <a:xfrm>
            <a:off x="565219" y="1752896"/>
            <a:ext cx="665094" cy="532801"/>
          </a:xfrm>
          <a:prstGeom prst="rect">
            <a:avLst/>
          </a:prstGeom>
          <a:solidFill>
            <a:srgbClr val="000000">
              <a:alpha val="0"/>
            </a:srgbClr>
          </a:solidFill>
          <a:ln/>
        </p:spPr>
      </p:sp>
      <p:sp>
        <p:nvSpPr>
          <p:cNvPr id="9" name="Text 7"/>
          <p:cNvSpPr/>
          <p:nvPr/>
        </p:nvSpPr>
        <p:spPr>
          <a:xfrm>
            <a:off x="565219" y="1752896"/>
            <a:ext cx="665094" cy="532801"/>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01</a:t>
            </a:r>
            <a:endParaRPr lang="en-US" sz="1600" dirty="0"/>
          </a:p>
        </p:txBody>
      </p:sp>
      <p:sp>
        <p:nvSpPr>
          <p:cNvPr id="10" name="Shape 8"/>
          <p:cNvSpPr/>
          <p:nvPr/>
        </p:nvSpPr>
        <p:spPr>
          <a:xfrm>
            <a:off x="1379394" y="4609717"/>
            <a:ext cx="665094" cy="556502"/>
          </a:xfrm>
          <a:prstGeom prst="rect">
            <a:avLst/>
          </a:prstGeom>
          <a:solidFill>
            <a:srgbClr val="000000">
              <a:alpha val="0"/>
            </a:srgbClr>
          </a:solidFill>
          <a:ln/>
        </p:spPr>
      </p:sp>
      <p:sp>
        <p:nvSpPr>
          <p:cNvPr id="11" name="Text 9"/>
          <p:cNvSpPr/>
          <p:nvPr/>
        </p:nvSpPr>
        <p:spPr>
          <a:xfrm>
            <a:off x="1379394" y="4609717"/>
            <a:ext cx="665094" cy="556502"/>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02</a:t>
            </a:r>
            <a:endParaRPr lang="en-US" sz="1600" dirty="0"/>
          </a:p>
        </p:txBody>
      </p:sp>
      <p:sp>
        <p:nvSpPr>
          <p:cNvPr id="12" name="Text 10"/>
          <p:cNvSpPr/>
          <p:nvPr/>
        </p:nvSpPr>
        <p:spPr>
          <a:xfrm>
            <a:off x="1538922" y="1029674"/>
            <a:ext cx="8651240" cy="276225"/>
          </a:xfrm>
          <a:prstGeom prst="rect">
            <a:avLst/>
          </a:prstGeom>
          <a:noFill/>
          <a:ln/>
        </p:spPr>
        <p:txBody>
          <a:bodyPr wrap="square" lIns="45720" tIns="45720" rIns="45720" bIns="45720" rtlCol="0" anchor="t">
            <a:spAutoFit/>
          </a:bodyPr>
          <a:lstStyle/>
          <a:p>
            <a:pPr indent="0" marL="0">
              <a:lnSpc>
                <a:spcPct val="100000"/>
              </a:lnSpc>
              <a:buNone/>
            </a:pPr>
            <a:r>
              <a:rPr lang="en-US" sz="1800" dirty="0">
                <a:solidFill>
                  <a:srgbClr val="77AD6F"/>
                </a:solidFill>
                <a:latin typeface="MiSans" pitchFamily="34" charset="0"/>
                <a:ea typeface="MiSans" pitchFamily="34" charset="-122"/>
                <a:cs typeface="MiSans" pitchFamily="34" charset="-120"/>
              </a:rPr>
              <a:t>Home Page</a:t>
            </a:r>
            <a:endParaRPr lang="en-US" sz="1600" dirty="0"/>
          </a:p>
        </p:txBody>
      </p:sp>
      <p:sp>
        <p:nvSpPr>
          <p:cNvPr id="13" name="Text 11"/>
          <p:cNvSpPr/>
          <p:nvPr/>
        </p:nvSpPr>
        <p:spPr>
          <a:xfrm>
            <a:off x="1538922" y="1345897"/>
            <a:ext cx="8439785" cy="1437481"/>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Home page provides a high-level overview of business performance through four main KPIs: Total Sales, Sum of Quantity, Profit, and Profit Margin. It also compares the Sum of Sales with the Target across both monthly and yearly levels. In addition, a combined chart displays the Count of Quantity and Sum of Sales over time, allowing users to easily observe sales trends and performance progress throughout the years.</a:t>
            </a:r>
            <a:endParaRPr lang="en-US" sz="1600" dirty="0"/>
          </a:p>
        </p:txBody>
      </p:sp>
      <p:sp>
        <p:nvSpPr>
          <p:cNvPr id="14" name="Text 12"/>
          <p:cNvSpPr/>
          <p:nvPr/>
        </p:nvSpPr>
        <p:spPr>
          <a:xfrm>
            <a:off x="2247688" y="3896220"/>
            <a:ext cx="7766050" cy="408940"/>
          </a:xfrm>
          <a:prstGeom prst="rect">
            <a:avLst/>
          </a:prstGeom>
          <a:noFill/>
          <a:ln/>
        </p:spPr>
        <p:txBody>
          <a:bodyPr wrap="square" lIns="45720" tIns="45720" rIns="45720" bIns="45720" rtlCol="0" anchor="t"/>
          <a:lstStyle/>
          <a:p>
            <a:pPr indent="0" marL="0">
              <a:lnSpc>
                <a:spcPct val="100000"/>
              </a:lnSpc>
              <a:buNone/>
            </a:pPr>
            <a:r>
              <a:rPr lang="en-US" sz="1800" dirty="0">
                <a:solidFill>
                  <a:srgbClr val="D2E7D6"/>
                </a:solidFill>
                <a:latin typeface="MiSans" pitchFamily="34" charset="0"/>
                <a:ea typeface="MiSans" pitchFamily="34" charset="-122"/>
                <a:cs typeface="MiSans" pitchFamily="34" charset="-120"/>
              </a:rPr>
              <a:t>Sales Page</a:t>
            </a:r>
            <a:endParaRPr lang="en-US" sz="1600" dirty="0"/>
          </a:p>
        </p:txBody>
      </p:sp>
      <p:sp>
        <p:nvSpPr>
          <p:cNvPr id="15" name="Text 13"/>
          <p:cNvSpPr/>
          <p:nvPr/>
        </p:nvSpPr>
        <p:spPr>
          <a:xfrm>
            <a:off x="2247688" y="4293340"/>
            <a:ext cx="8513445" cy="1149945"/>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Sales page focuses on detailed sales analysis. Users can explore the Sum of Sales by Year with drill-down options to view quarterly and monthly performance. It also highlights the Top 10 Resellers, Top 10 Salespersons, and sales distribution by Business Type,</a:t>
            </a:r>
            <a:pPr indent="0" marL="0">
              <a:lnSpc>
                <a:spcPct val="130000"/>
              </a:lnSpc>
              <a:buNone/>
            </a:pPr>
            <a:r>
              <a:rPr lang="en-US" sz="1400" dirty="0">
                <a:solidFill>
                  <a:srgbClr val="FFFFFF"/>
                </a:solidFill>
                <a:latin typeface="MiSans" pitchFamily="34" charset="0"/>
                <a:ea typeface="MiSans" pitchFamily="34" charset="-122"/>
                <a:cs typeface="MiSans" pitchFamily="34" charset="-120"/>
              </a:rPr>
              <a:t> </a:t>
            </a:r>
            <a:pPr indent="0" marL="0">
              <a:lnSpc>
                <a:spcPct val="130000"/>
              </a:lnSpc>
              <a:buNone/>
            </a:pPr>
            <a:r>
              <a:rPr lang="en-US" sz="1400" dirty="0">
                <a:solidFill>
                  <a:srgbClr val="000000"/>
                </a:solidFill>
                <a:latin typeface="MiSans" pitchFamily="34" charset="0"/>
                <a:ea typeface="MiSans" pitchFamily="34" charset="-122"/>
                <a:cs typeface="MiSans" pitchFamily="34" charset="-120"/>
              </a:rPr>
              <a:t>helping identify the most valuable contributors to overall sales.</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6200000">
            <a:off x="5182096" y="-3959160"/>
            <a:ext cx="2136418" cy="11892280"/>
          </a:xfrm>
          <a:prstGeom prst="round2SameRect">
            <a:avLst>
              <a:gd name="adj1" fmla="val 50000"/>
              <a:gd name="adj2" fmla="val 0"/>
            </a:avLst>
          </a:prstGeom>
          <a:solidFill>
            <a:srgbClr val="D2E7D6"/>
          </a:solidFill>
          <a:ln/>
        </p:spPr>
      </p:sp>
      <p:sp>
        <p:nvSpPr>
          <p:cNvPr id="3" name="Shape 1"/>
          <p:cNvSpPr/>
          <p:nvPr/>
        </p:nvSpPr>
        <p:spPr>
          <a:xfrm rot="16200000">
            <a:off x="5765744" y="-688425"/>
            <a:ext cx="1934957" cy="10926445"/>
          </a:xfrm>
          <a:prstGeom prst="round2SameRect">
            <a:avLst>
              <a:gd name="adj1" fmla="val 50000"/>
              <a:gd name="adj2" fmla="val 0"/>
            </a:avLst>
          </a:prstGeom>
          <a:solidFill>
            <a:srgbClr val="77AD6F"/>
          </a:solidFill>
          <a:ln/>
        </p:spPr>
      </p:sp>
      <p:sp>
        <p:nvSpPr>
          <p:cNvPr id="4" name="Text 2"/>
          <p:cNvSpPr/>
          <p:nvPr/>
        </p:nvSpPr>
        <p:spPr>
          <a:xfrm rot="16200000">
            <a:off x="5765744" y="-688425"/>
            <a:ext cx="1934957" cy="1092644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Shape 3"/>
          <p:cNvSpPr/>
          <p:nvPr/>
        </p:nvSpPr>
        <p:spPr>
          <a:xfrm>
            <a:off x="1408268" y="4455820"/>
            <a:ext cx="637958" cy="637956"/>
          </a:xfrm>
          <a:prstGeom prst="ellipse">
            <a:avLst/>
          </a:prstGeom>
          <a:solidFill>
            <a:srgbClr val="D2E7D6"/>
          </a:solidFill>
          <a:ln/>
        </p:spPr>
      </p:sp>
      <p:sp>
        <p:nvSpPr>
          <p:cNvPr id="6" name="Shape 4"/>
          <p:cNvSpPr/>
          <p:nvPr/>
        </p:nvSpPr>
        <p:spPr>
          <a:xfrm>
            <a:off x="592355" y="1609641"/>
            <a:ext cx="637958" cy="637956"/>
          </a:xfrm>
          <a:prstGeom prst="ellipse">
            <a:avLst/>
          </a:prstGeom>
          <a:solidFill>
            <a:srgbClr val="77AD6F"/>
          </a:solidFill>
          <a:ln/>
        </p:spPr>
      </p:sp>
      <p:sp>
        <p:nvSpPr>
          <p:cNvPr id="7" name="Text 5"/>
          <p:cNvSpPr/>
          <p:nvPr/>
        </p:nvSpPr>
        <p:spPr>
          <a:xfrm>
            <a:off x="592355" y="1609641"/>
            <a:ext cx="637958" cy="637956"/>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8" name="Shape 6"/>
          <p:cNvSpPr/>
          <p:nvPr/>
        </p:nvSpPr>
        <p:spPr>
          <a:xfrm>
            <a:off x="565219" y="1752896"/>
            <a:ext cx="665094" cy="532801"/>
          </a:xfrm>
          <a:prstGeom prst="rect">
            <a:avLst/>
          </a:prstGeom>
          <a:solidFill>
            <a:srgbClr val="000000">
              <a:alpha val="0"/>
            </a:srgbClr>
          </a:solidFill>
          <a:ln/>
        </p:spPr>
      </p:sp>
      <p:sp>
        <p:nvSpPr>
          <p:cNvPr id="9" name="Text 7"/>
          <p:cNvSpPr/>
          <p:nvPr/>
        </p:nvSpPr>
        <p:spPr>
          <a:xfrm>
            <a:off x="565219" y="1752896"/>
            <a:ext cx="665094" cy="532801"/>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03</a:t>
            </a:r>
            <a:endParaRPr lang="en-US" sz="1600" dirty="0"/>
          </a:p>
        </p:txBody>
      </p:sp>
      <p:sp>
        <p:nvSpPr>
          <p:cNvPr id="10" name="Shape 8"/>
          <p:cNvSpPr/>
          <p:nvPr/>
        </p:nvSpPr>
        <p:spPr>
          <a:xfrm>
            <a:off x="1379394" y="4609717"/>
            <a:ext cx="665094" cy="556502"/>
          </a:xfrm>
          <a:prstGeom prst="rect">
            <a:avLst/>
          </a:prstGeom>
          <a:solidFill>
            <a:srgbClr val="000000">
              <a:alpha val="0"/>
            </a:srgbClr>
          </a:solidFill>
          <a:ln/>
        </p:spPr>
      </p:sp>
      <p:sp>
        <p:nvSpPr>
          <p:cNvPr id="11" name="Text 9"/>
          <p:cNvSpPr/>
          <p:nvPr/>
        </p:nvSpPr>
        <p:spPr>
          <a:xfrm>
            <a:off x="1379394" y="4609717"/>
            <a:ext cx="665094" cy="556502"/>
          </a:xfrm>
          <a:prstGeom prst="rect">
            <a:avLst/>
          </a:prstGeom>
          <a:noFill/>
          <a:ln/>
        </p:spPr>
        <p:txBody>
          <a:bodyPr wrap="square" lIns="0" tIns="0" rIns="0" bIns="0" rtlCol="0" anchor="t"/>
          <a:lstStyle/>
          <a:p>
            <a:pPr algn="ctr" indent="0" marL="0">
              <a:lnSpc>
                <a:spcPct val="110000"/>
              </a:lnSpc>
              <a:buNone/>
            </a:pPr>
            <a:r>
              <a:rPr lang="en-US" sz="1800" dirty="0">
                <a:solidFill>
                  <a:srgbClr val="000000"/>
                </a:solidFill>
                <a:latin typeface="MiSans" pitchFamily="34" charset="0"/>
                <a:ea typeface="MiSans" pitchFamily="34" charset="-122"/>
                <a:cs typeface="MiSans" pitchFamily="34" charset="-120"/>
              </a:rPr>
              <a:t>04</a:t>
            </a:r>
            <a:endParaRPr lang="en-US" sz="1600" dirty="0"/>
          </a:p>
        </p:txBody>
      </p:sp>
      <p:sp>
        <p:nvSpPr>
          <p:cNvPr id="12" name="Text 10"/>
          <p:cNvSpPr/>
          <p:nvPr/>
        </p:nvSpPr>
        <p:spPr>
          <a:xfrm>
            <a:off x="1538922" y="1345897"/>
            <a:ext cx="8439785" cy="1437481"/>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Product page emphasizes product-level performance, presenting the Sum of Sales by Category with a Drill Through feature for deeper analysis within each category. It also displays the Top 10 Products by Sales and a chart of Sales by Color, where product colors are grouped into three main segments: </a:t>
            </a:r>
            <a:pPr indent="0" marL="0">
              <a:lnSpc>
                <a:spcPct val="130000"/>
              </a:lnSpc>
              <a:buNone/>
            </a:pPr>
            <a:r>
              <a:rPr lang="en-US" sz="1400" i="1" dirty="0">
                <a:solidFill>
                  <a:srgbClr val="000000"/>
                </a:solidFill>
                <a:latin typeface="MiSans" pitchFamily="34" charset="0"/>
                <a:ea typeface="MiSans" pitchFamily="34" charset="-122"/>
                <a:cs typeface="MiSans" pitchFamily="34" charset="-120"/>
              </a:rPr>
              <a:t>Dark</a:t>
            </a:r>
            <a:pPr indent="0" marL="0">
              <a:lnSpc>
                <a:spcPct val="130000"/>
              </a:lnSpc>
              <a:buNone/>
            </a:pPr>
            <a:r>
              <a:rPr lang="en-US" sz="1400" dirty="0">
                <a:solidFill>
                  <a:srgbClr val="000000"/>
                </a:solidFill>
                <a:latin typeface="MiSans" pitchFamily="34" charset="0"/>
                <a:ea typeface="MiSans" pitchFamily="34" charset="-122"/>
                <a:cs typeface="MiSans" pitchFamily="34" charset="-120"/>
              </a:rPr>
              <a:t>, </a:t>
            </a:r>
            <a:pPr indent="0" marL="0">
              <a:lnSpc>
                <a:spcPct val="130000"/>
              </a:lnSpc>
              <a:buNone/>
            </a:pPr>
            <a:r>
              <a:rPr lang="en-US" sz="1400" i="1" dirty="0">
                <a:solidFill>
                  <a:srgbClr val="000000"/>
                </a:solidFill>
                <a:latin typeface="MiSans" pitchFamily="34" charset="0"/>
                <a:ea typeface="MiSans" pitchFamily="34" charset="-122"/>
                <a:cs typeface="MiSans" pitchFamily="34" charset="-120"/>
              </a:rPr>
              <a:t>Light</a:t>
            </a:r>
            <a:pPr indent="0" marL="0">
              <a:lnSpc>
                <a:spcPct val="130000"/>
              </a:lnSpc>
              <a:buNone/>
            </a:pPr>
            <a:r>
              <a:rPr lang="en-US" sz="1400" dirty="0">
                <a:solidFill>
                  <a:srgbClr val="000000"/>
                </a:solidFill>
                <a:latin typeface="MiSans" pitchFamily="34" charset="0"/>
                <a:ea typeface="MiSans" pitchFamily="34" charset="-122"/>
                <a:cs typeface="MiSans" pitchFamily="34" charset="-120"/>
              </a:rPr>
              <a:t>, and </a:t>
            </a:r>
            <a:pPr indent="0" marL="0">
              <a:lnSpc>
                <a:spcPct val="130000"/>
              </a:lnSpc>
              <a:buNone/>
            </a:pPr>
            <a:r>
              <a:rPr lang="en-US" sz="1400" i="1" dirty="0">
                <a:solidFill>
                  <a:srgbClr val="000000"/>
                </a:solidFill>
                <a:latin typeface="MiSans" pitchFamily="34" charset="0"/>
                <a:ea typeface="MiSans" pitchFamily="34" charset="-122"/>
                <a:cs typeface="MiSans" pitchFamily="34" charset="-120"/>
              </a:rPr>
              <a:t>Other</a:t>
            </a:r>
            <a:pPr indent="0" marL="0">
              <a:lnSpc>
                <a:spcPct val="130000"/>
              </a:lnSpc>
              <a:buNone/>
            </a:pPr>
            <a:r>
              <a:rPr lang="en-US" sz="1400" dirty="0">
                <a:solidFill>
                  <a:srgbClr val="000000"/>
                </a:solidFill>
                <a:latin typeface="MiSans" pitchFamily="34" charset="0"/>
                <a:ea typeface="MiSans" pitchFamily="34" charset="-122"/>
                <a:cs typeface="MiSans" pitchFamily="34" charset="-120"/>
              </a:rPr>
              <a:t>. A slicer enables users to filter and view specific product details interactively.</a:t>
            </a:r>
            <a:endParaRPr lang="en-US" sz="1600" dirty="0"/>
          </a:p>
        </p:txBody>
      </p:sp>
      <p:sp>
        <p:nvSpPr>
          <p:cNvPr id="13" name="Text 11"/>
          <p:cNvSpPr/>
          <p:nvPr/>
        </p:nvSpPr>
        <p:spPr>
          <a:xfrm>
            <a:off x="2247688" y="3896220"/>
            <a:ext cx="7766050" cy="408940"/>
          </a:xfrm>
          <a:prstGeom prst="rect">
            <a:avLst/>
          </a:prstGeom>
          <a:noFill/>
          <a:ln/>
        </p:spPr>
        <p:txBody>
          <a:bodyPr wrap="square" lIns="45720" tIns="45720" rIns="45720" bIns="45720" rtlCol="0" anchor="t"/>
          <a:lstStyle/>
          <a:p>
            <a:pPr indent="0" marL="0">
              <a:lnSpc>
                <a:spcPct val="100000"/>
              </a:lnSpc>
              <a:buNone/>
            </a:pPr>
            <a:r>
              <a:rPr lang="en-US" sz="1800" dirty="0">
                <a:solidFill>
                  <a:srgbClr val="D2E7D6"/>
                </a:solidFill>
                <a:latin typeface="MiSans" pitchFamily="34" charset="0"/>
                <a:ea typeface="MiSans" pitchFamily="34" charset="-122"/>
                <a:cs typeface="MiSans" pitchFamily="34" charset="-120"/>
              </a:rPr>
              <a:t>Map Page</a:t>
            </a:r>
            <a:endParaRPr lang="en-US" sz="1600" dirty="0"/>
          </a:p>
        </p:txBody>
      </p:sp>
      <p:sp>
        <p:nvSpPr>
          <p:cNvPr id="14" name="Text 12"/>
          <p:cNvSpPr/>
          <p:nvPr/>
        </p:nvSpPr>
        <p:spPr>
          <a:xfrm>
            <a:off x="2247688" y="4293340"/>
            <a:ext cx="8513445" cy="862409"/>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Map page visualizes geographic performance through the Sum of Sales by Country-Region. By selecting a country, users can view more detailed breakdowns of sales by State and City, providing a clear understanding of regional sales distribution and market concentration.</a:t>
            </a:r>
            <a:endParaRPr lang="en-US" sz="1600" dirty="0"/>
          </a:p>
        </p:txBody>
      </p:sp>
      <p:sp>
        <p:nvSpPr>
          <p:cNvPr id="15" name="Text 13"/>
          <p:cNvSpPr/>
          <p:nvPr/>
        </p:nvSpPr>
        <p:spPr>
          <a:xfrm>
            <a:off x="1500822" y="1021708"/>
            <a:ext cx="7620000" cy="276225"/>
          </a:xfrm>
          <a:prstGeom prst="rect">
            <a:avLst/>
          </a:prstGeom>
          <a:noFill/>
          <a:ln/>
        </p:spPr>
        <p:txBody>
          <a:bodyPr wrap="square" lIns="91440" tIns="45720" rIns="91440" bIns="45720" rtlCol="0" anchor="t">
            <a:spAutoFit/>
          </a:bodyPr>
          <a:lstStyle/>
          <a:p>
            <a:pPr indent="0" marL="0">
              <a:lnSpc>
                <a:spcPct val="100000"/>
              </a:lnSpc>
              <a:buNone/>
            </a:pPr>
            <a:r>
              <a:rPr lang="en-US" sz="1800" dirty="0">
                <a:solidFill>
                  <a:srgbClr val="77AD6F"/>
                </a:solidFill>
                <a:latin typeface="MiSans" pitchFamily="34" charset="0"/>
                <a:ea typeface="MiSans" pitchFamily="34" charset="-122"/>
                <a:cs typeface="MiSans" pitchFamily="34" charset="-120"/>
              </a:rPr>
              <a:t>Product Page</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3422015" y="726440"/>
            <a:ext cx="5753602" cy="5753602"/>
          </a:xfrm>
          <a:prstGeom prst="ellipse">
            <a:avLst/>
          </a:prstGeom>
          <a:solidFill>
            <a:srgbClr val="D2E7D6"/>
          </a:solidFill>
          <a:ln/>
        </p:spPr>
      </p:sp>
      <p:sp>
        <p:nvSpPr>
          <p:cNvPr id="3" name="Text 1"/>
          <p:cNvSpPr/>
          <p:nvPr/>
        </p:nvSpPr>
        <p:spPr>
          <a:xfrm>
            <a:off x="3422015" y="726440"/>
            <a:ext cx="5753602" cy="5753602"/>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Text 2"/>
          <p:cNvSpPr/>
          <p:nvPr/>
        </p:nvSpPr>
        <p:spPr>
          <a:xfrm>
            <a:off x="3575490" y="3468524"/>
            <a:ext cx="5445515" cy="1887172"/>
          </a:xfrm>
          <a:prstGeom prst="rect">
            <a:avLst/>
          </a:prstGeom>
          <a:noFill/>
          <a:ln/>
        </p:spPr>
        <p:txBody>
          <a:bodyPr wrap="square" lIns="0" tIns="0" rIns="0" bIns="0" rtlCol="0" anchor="t"/>
          <a:lstStyle/>
          <a:p>
            <a:pPr algn="ctr" indent="0" marL="0">
              <a:lnSpc>
                <a:spcPct val="100000"/>
              </a:lnSpc>
              <a:buNone/>
            </a:pPr>
            <a:r>
              <a:rPr lang="en-US" sz="4400" dirty="0">
                <a:solidFill>
                  <a:srgbClr val="000000"/>
                </a:solidFill>
                <a:latin typeface="MiSans" pitchFamily="34" charset="0"/>
                <a:ea typeface="MiSans" pitchFamily="34" charset="-122"/>
                <a:cs typeface="MiSans" pitchFamily="34" charset="-120"/>
              </a:rPr>
              <a:t>Report Breakdown</a:t>
            </a:r>
            <a:endParaRPr lang="en-US" sz="1600" dirty="0"/>
          </a:p>
        </p:txBody>
      </p:sp>
      <p:sp>
        <p:nvSpPr>
          <p:cNvPr id="5" name="Text 3"/>
          <p:cNvSpPr/>
          <p:nvPr/>
        </p:nvSpPr>
        <p:spPr>
          <a:xfrm>
            <a:off x="3575490" y="1609773"/>
            <a:ext cx="5445515" cy="1887172"/>
          </a:xfrm>
          <a:prstGeom prst="rect">
            <a:avLst/>
          </a:prstGeom>
          <a:noFill/>
          <a:ln/>
        </p:spPr>
        <p:txBody>
          <a:bodyPr wrap="square" lIns="0" tIns="0" rIns="0" bIns="0" rtlCol="0" anchor="t"/>
          <a:lstStyle/>
          <a:p>
            <a:pPr algn="ctr" indent="0" marL="0">
              <a:lnSpc>
                <a:spcPct val="100000"/>
              </a:lnSpc>
              <a:buNone/>
            </a:pPr>
            <a:r>
              <a:rPr lang="en-US" sz="9600" b="1" dirty="0">
                <a:solidFill>
                  <a:srgbClr val="77AD6F"/>
                </a:solidFill>
                <a:latin typeface="MiSans" pitchFamily="34" charset="0"/>
                <a:ea typeface="MiSans" pitchFamily="34" charset="-122"/>
                <a:cs typeface="MiSans" pitchFamily="34" charset="-120"/>
              </a:rPr>
              <a:t>05</a:t>
            </a:r>
            <a:endParaRPr lang="en-US" sz="1600" dirty="0"/>
          </a:p>
        </p:txBody>
      </p:sp>
      <p:sp>
        <p:nvSpPr>
          <p:cNvPr id="6" name="Shape 4"/>
          <p:cNvSpPr/>
          <p:nvPr/>
        </p:nvSpPr>
        <p:spPr>
          <a:xfrm>
            <a:off x="-970280" y="-1332230"/>
            <a:ext cx="4229735" cy="4229735"/>
          </a:xfrm>
          <a:prstGeom prst="ellipse">
            <a:avLst/>
          </a:prstGeom>
          <a:solidFill>
            <a:srgbClr val="D2E7D6"/>
          </a:solidFill>
          <a:ln/>
        </p:spPr>
      </p:sp>
      <p:sp>
        <p:nvSpPr>
          <p:cNvPr id="7" name="Text 5"/>
          <p:cNvSpPr/>
          <p:nvPr/>
        </p:nvSpPr>
        <p:spPr>
          <a:xfrm>
            <a:off x="-97028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970280" y="4128770"/>
            <a:ext cx="4229735" cy="4229735"/>
          </a:xfrm>
          <a:prstGeom prst="ellipse">
            <a:avLst/>
          </a:prstGeom>
          <a:solidFill>
            <a:srgbClr val="D2E7D6"/>
          </a:solidFill>
          <a:ln/>
        </p:spPr>
      </p:sp>
      <p:sp>
        <p:nvSpPr>
          <p:cNvPr id="9" name="Text 7"/>
          <p:cNvSpPr/>
          <p:nvPr/>
        </p:nvSpPr>
        <p:spPr>
          <a:xfrm>
            <a:off x="-97028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9519920" y="-1332230"/>
            <a:ext cx="4229735" cy="4229735"/>
          </a:xfrm>
          <a:prstGeom prst="ellipse">
            <a:avLst/>
          </a:prstGeom>
          <a:solidFill>
            <a:srgbClr val="D2E7D6"/>
          </a:solidFill>
          <a:ln/>
        </p:spPr>
      </p:sp>
      <p:sp>
        <p:nvSpPr>
          <p:cNvPr id="11" name="Text 9"/>
          <p:cNvSpPr/>
          <p:nvPr/>
        </p:nvSpPr>
        <p:spPr>
          <a:xfrm>
            <a:off x="951992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519920" y="4128770"/>
            <a:ext cx="4229735" cy="4229735"/>
          </a:xfrm>
          <a:prstGeom prst="ellipse">
            <a:avLst/>
          </a:prstGeom>
          <a:solidFill>
            <a:srgbClr val="D2E7D6"/>
          </a:solidFill>
          <a:ln/>
        </p:spPr>
      </p:sp>
      <p:sp>
        <p:nvSpPr>
          <p:cNvPr id="13" name="Text 11"/>
          <p:cNvSpPr/>
          <p:nvPr/>
        </p:nvSpPr>
        <p:spPr>
          <a:xfrm>
            <a:off x="951992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9692" y="165910"/>
            <a:ext cx="6637655" cy="1623060"/>
          </a:xfrm>
          <a:prstGeom prst="rect">
            <a:avLst/>
          </a:prstGeom>
          <a:noFill/>
          <a:ln/>
        </p:spPr>
        <p:txBody>
          <a:bodyPr wrap="square" lIns="45720" tIns="45720" rIns="45720" bIns="45720" rtlCol="0" anchor="t"/>
          <a:lstStyle/>
          <a:p>
            <a:pPr indent="0" marL="0">
              <a:lnSpc>
                <a:spcPct val="100000"/>
              </a:lnSpc>
              <a:buNone/>
            </a:pPr>
            <a:r>
              <a:rPr lang="en-US" sz="3200" dirty="0">
                <a:solidFill>
                  <a:srgbClr val="77AD6F"/>
                </a:solidFill>
                <a:latin typeface="MiSans" pitchFamily="34" charset="0"/>
                <a:ea typeface="MiSans" pitchFamily="34" charset="-122"/>
                <a:cs typeface="MiSans" pitchFamily="34" charset="-120"/>
              </a:rPr>
              <a:t>Home Page</a:t>
            </a:r>
            <a:endParaRPr lang="en-US" sz="1600" dirty="0"/>
          </a:p>
        </p:txBody>
      </p:sp>
      <p:sp>
        <p:nvSpPr>
          <p:cNvPr id="3" name="Shape 1"/>
          <p:cNvSpPr/>
          <p:nvPr/>
        </p:nvSpPr>
        <p:spPr>
          <a:xfrm>
            <a:off x="4091305" y="2061210"/>
            <a:ext cx="3862705" cy="4831080"/>
          </a:xfrm>
          <a:prstGeom prst="round2SameRect">
            <a:avLst>
              <a:gd name="adj1" fmla="val 50000"/>
              <a:gd name="adj2" fmla="val 0"/>
            </a:avLst>
          </a:prstGeom>
          <a:solidFill>
            <a:srgbClr val="D2E7D6"/>
          </a:solidFill>
          <a:ln/>
        </p:spPr>
      </p:sp>
      <p:sp>
        <p:nvSpPr>
          <p:cNvPr id="4" name="Text 2"/>
          <p:cNvSpPr/>
          <p:nvPr/>
        </p:nvSpPr>
        <p:spPr>
          <a:xfrm>
            <a:off x="4091305" y="2061210"/>
            <a:ext cx="3862705" cy="483108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Shape 3"/>
          <p:cNvSpPr/>
          <p:nvPr/>
        </p:nvSpPr>
        <p:spPr>
          <a:xfrm rot="10800000">
            <a:off x="8108124" y="-4421"/>
            <a:ext cx="4087868" cy="6712014"/>
          </a:xfrm>
          <a:prstGeom prst="round2SameRect">
            <a:avLst>
              <a:gd name="adj1" fmla="val 50000"/>
              <a:gd name="adj2" fmla="val 0"/>
            </a:avLst>
          </a:prstGeom>
          <a:solidFill>
            <a:srgbClr val="77AD6F"/>
          </a:solidFill>
          <a:ln/>
        </p:spPr>
      </p:sp>
      <p:sp>
        <p:nvSpPr>
          <p:cNvPr id="6" name="Text 4"/>
          <p:cNvSpPr/>
          <p:nvPr/>
        </p:nvSpPr>
        <p:spPr>
          <a:xfrm>
            <a:off x="8412067" y="114935"/>
            <a:ext cx="3349625"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D2E7D6"/>
                </a:solidFill>
                <a:latin typeface="MiSans" pitchFamily="34" charset="0"/>
                <a:ea typeface="MiSans" pitchFamily="34" charset="-122"/>
                <a:cs typeface="MiSans" pitchFamily="34" charset="-120"/>
              </a:rPr>
              <a:t>Visuals Used</a:t>
            </a:r>
            <a:endParaRPr lang="en-US" sz="1600" dirty="0"/>
          </a:p>
        </p:txBody>
      </p:sp>
      <p:sp>
        <p:nvSpPr>
          <p:cNvPr id="7" name="Text 5"/>
          <p:cNvSpPr/>
          <p:nvPr/>
        </p:nvSpPr>
        <p:spPr>
          <a:xfrm>
            <a:off x="8420735" y="2277110"/>
            <a:ext cx="3528695" cy="0"/>
          </a:xfrm>
          <a:prstGeom prst="rect">
            <a:avLst/>
          </a:prstGeom>
          <a:noFill/>
          <a:ln/>
        </p:spPr>
        <p:txBody>
          <a:bodyPr wrap="square" lIns="45720" tIns="45720" rIns="45720" bIns="45720" rtlCol="0" anchor="t">
            <a:spAutoFit/>
          </a:bodyPr>
          <a:lstStyle/>
          <a:p>
            <a:pPr indent="0" marL="0">
              <a:lnSpc>
                <a:spcPct val="130000"/>
              </a:lnSpc>
              <a:buNone/>
            </a:pPr>
            <a:endParaRPr lang="en-US" sz="1600" dirty="0"/>
          </a:p>
        </p:txBody>
      </p:sp>
      <p:sp>
        <p:nvSpPr>
          <p:cNvPr id="8" name="Text 6"/>
          <p:cNvSpPr/>
          <p:nvPr/>
        </p:nvSpPr>
        <p:spPr>
          <a:xfrm>
            <a:off x="4199890" y="2761615"/>
            <a:ext cx="3444240"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77AD6F"/>
                </a:solidFill>
                <a:latin typeface="MiSans" pitchFamily="34" charset="0"/>
                <a:ea typeface="MiSans" pitchFamily="34" charset="-122"/>
                <a:cs typeface="MiSans" pitchFamily="34" charset="-120"/>
              </a:rPr>
              <a:t>Purpose</a:t>
            </a:r>
            <a:endParaRPr lang="en-US" sz="1600" dirty="0"/>
          </a:p>
        </p:txBody>
      </p:sp>
      <p:sp>
        <p:nvSpPr>
          <p:cNvPr id="9" name="Text 7"/>
          <p:cNvSpPr/>
          <p:nvPr/>
        </p:nvSpPr>
        <p:spPr>
          <a:xfrm>
            <a:off x="4208145" y="3447415"/>
            <a:ext cx="3629025" cy="2587427"/>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Home page serves as the central hub of the report, offering both a summary of performance and intuitive navigation to the other pages. It provides users with an immediate snapshot of the company’s overall results while allowing them to explore specific details in the Sales, Product, and Map sections through direct navigation buttons.</a:t>
            </a:r>
            <a:endParaRPr lang="en-US" sz="1600" dirty="0"/>
          </a:p>
        </p:txBody>
      </p:sp>
      <p:sp>
        <p:nvSpPr>
          <p:cNvPr id="10" name="Shape 8"/>
          <p:cNvSpPr/>
          <p:nvPr/>
        </p:nvSpPr>
        <p:spPr>
          <a:xfrm flipV="1" rot="-5400000">
            <a:off x="410570" y="581300"/>
            <a:ext cx="3282021" cy="4128562"/>
          </a:xfrm>
          <a:prstGeom prst="round2SameRect">
            <a:avLst>
              <a:gd name="adj1" fmla="val 50000"/>
              <a:gd name="adj2" fmla="val 0"/>
            </a:avLst>
          </a:prstGeom>
          <a:solidFill>
            <a:srgbClr val="77AD6F"/>
          </a:solidFill>
          <a:ln/>
        </p:spPr>
      </p:sp>
      <p:sp>
        <p:nvSpPr>
          <p:cNvPr id="11" name="Text 9"/>
          <p:cNvSpPr/>
          <p:nvPr/>
        </p:nvSpPr>
        <p:spPr>
          <a:xfrm>
            <a:off x="8336911" y="594270"/>
            <a:ext cx="3792224" cy="5388519"/>
          </a:xfrm>
          <a:prstGeom prst="rect">
            <a:avLst/>
          </a:prstGeom>
          <a:noFill/>
          <a:ln/>
        </p:spPr>
        <p:txBody>
          <a:bodyPr wrap="square" lIns="91440" tIns="45720" rIns="91440" bIns="45720" rtlCol="0" anchor="t"/>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This page includes several key visuals that together form the foundation of the report’s analytical view. Card visuals are used to display the main KPIs, including </a:t>
            </a:r>
            <a:pPr indent="0" marL="0">
              <a:lnSpc>
                <a:spcPct val="100000"/>
              </a:lnSpc>
              <a:buNone/>
            </a:pPr>
            <a:r>
              <a:rPr lang="en-US" sz="1400" i="1" dirty="0">
                <a:solidFill>
                  <a:srgbClr val="000000"/>
                </a:solidFill>
                <a:latin typeface="MiSans" pitchFamily="34" charset="0"/>
                <a:ea typeface="MiSans" pitchFamily="34" charset="-122"/>
                <a:cs typeface="MiSans" pitchFamily="34" charset="-120"/>
              </a:rPr>
              <a:t>Total Sales</a:t>
            </a:r>
            <a:pPr indent="0" marL="0">
              <a:lnSpc>
                <a:spcPct val="100000"/>
              </a:lnSpc>
              <a:buNone/>
            </a:pPr>
            <a:r>
              <a:rPr lang="en-US" sz="1400" dirty="0">
                <a:solidFill>
                  <a:srgbClr val="000000"/>
                </a:solidFill>
                <a:latin typeface="MiSans" pitchFamily="34" charset="0"/>
                <a:ea typeface="MiSans" pitchFamily="34" charset="-122"/>
                <a:cs typeface="MiSans" pitchFamily="34" charset="-120"/>
              </a:rPr>
              <a:t>, </a:t>
            </a:r>
            <a:pPr indent="0" marL="0">
              <a:lnSpc>
                <a:spcPct val="100000"/>
              </a:lnSpc>
              <a:buNone/>
            </a:pPr>
            <a:r>
              <a:rPr lang="en-US" sz="1400" i="1" dirty="0">
                <a:solidFill>
                  <a:srgbClr val="000000"/>
                </a:solidFill>
                <a:latin typeface="MiSans" pitchFamily="34" charset="0"/>
                <a:ea typeface="MiSans" pitchFamily="34" charset="-122"/>
                <a:cs typeface="MiSans" pitchFamily="34" charset="-120"/>
              </a:rPr>
              <a:t>Sum of Quantity</a:t>
            </a:r>
            <a:pPr indent="0" marL="0">
              <a:lnSpc>
                <a:spcPct val="100000"/>
              </a:lnSpc>
              <a:buNone/>
            </a:pPr>
            <a:r>
              <a:rPr lang="en-US" sz="1400" dirty="0">
                <a:solidFill>
                  <a:srgbClr val="000000"/>
                </a:solidFill>
                <a:latin typeface="MiSans" pitchFamily="34" charset="0"/>
                <a:ea typeface="MiSans" pitchFamily="34" charset="-122"/>
                <a:cs typeface="MiSans" pitchFamily="34" charset="-120"/>
              </a:rPr>
              <a:t>, </a:t>
            </a:r>
            <a:pPr indent="0" marL="0">
              <a:lnSpc>
                <a:spcPct val="100000"/>
              </a:lnSpc>
              <a:buNone/>
            </a:pPr>
            <a:r>
              <a:rPr lang="en-US" sz="1400" i="1" dirty="0">
                <a:solidFill>
                  <a:srgbClr val="000000"/>
                </a:solidFill>
                <a:latin typeface="MiSans" pitchFamily="34" charset="0"/>
                <a:ea typeface="MiSans" pitchFamily="34" charset="-122"/>
                <a:cs typeface="MiSans" pitchFamily="34" charset="-120"/>
              </a:rPr>
              <a:t>Profit</a:t>
            </a:r>
            <a:pPr indent="0" marL="0">
              <a:lnSpc>
                <a:spcPct val="100000"/>
              </a:lnSpc>
              <a:buNone/>
            </a:pPr>
            <a:r>
              <a:rPr lang="en-US" sz="1400" dirty="0">
                <a:solidFill>
                  <a:srgbClr val="000000"/>
                </a:solidFill>
                <a:latin typeface="MiSans" pitchFamily="34" charset="0"/>
                <a:ea typeface="MiSans" pitchFamily="34" charset="-122"/>
                <a:cs typeface="MiSans" pitchFamily="34" charset="-120"/>
              </a:rPr>
              <a:t>, and </a:t>
            </a:r>
            <a:pPr indent="0" marL="0">
              <a:lnSpc>
                <a:spcPct val="100000"/>
              </a:lnSpc>
              <a:buNone/>
            </a:pPr>
            <a:r>
              <a:rPr lang="en-US" sz="1400" i="1" dirty="0">
                <a:solidFill>
                  <a:srgbClr val="000000"/>
                </a:solidFill>
                <a:latin typeface="MiSans" pitchFamily="34" charset="0"/>
                <a:ea typeface="MiSans" pitchFamily="34" charset="-122"/>
                <a:cs typeface="MiSans" pitchFamily="34" charset="-120"/>
              </a:rPr>
              <a:t>Profit Margin</a:t>
            </a:r>
            <a:pPr indent="0" marL="0">
              <a:lnSpc>
                <a:spcPct val="100000"/>
              </a:lnSpc>
              <a:buNone/>
            </a:pPr>
            <a:r>
              <a:rPr lang="en-US" sz="1400" dirty="0">
                <a:solidFill>
                  <a:srgbClr val="000000"/>
                </a:solidFill>
                <a:latin typeface="MiSans" pitchFamily="34" charset="0"/>
                <a:ea typeface="MiSans" pitchFamily="34" charset="-122"/>
                <a:cs typeface="MiSans" pitchFamily="34" charset="-120"/>
              </a:rPr>
              <a:t>, giving a quick overview of financial and operational performance. A clustered column chart compares the Sum of Sales and Sum of Target across both months and years, helping track how closely sales results align with business goals. Another line and clustered column chart illustrates the Count of Quantity and Sum of Sales by year and month, revealing seasonal patterns and long-term sales trends. To ensure smooth navigation, interactive buttons are included on each page, with a dedicated “Home” button allowing users to return easily to the main view.</a:t>
            </a:r>
            <a:endParaRPr lang="en-US" sz="1600" dirty="0"/>
          </a:p>
        </p:txBody>
      </p:sp>
      <p:sp>
        <p:nvSpPr>
          <p:cNvPr id="12" name="Text 10"/>
          <p:cNvSpPr/>
          <p:nvPr/>
        </p:nvSpPr>
        <p:spPr>
          <a:xfrm>
            <a:off x="79692" y="1099185"/>
            <a:ext cx="4055312" cy="774700"/>
          </a:xfrm>
          <a:prstGeom prst="rect">
            <a:avLst/>
          </a:prstGeom>
          <a:noFill/>
          <a:ln/>
        </p:spPr>
        <p:txBody>
          <a:bodyPr wrap="square" lIns="91440" tIns="45720" rIns="91440" bIns="45720" rtlCol="0" anchor="t"/>
          <a:lstStyle/>
          <a:p>
            <a:pPr indent="0" marL="0">
              <a:lnSpc>
                <a:spcPct val="100000"/>
              </a:lnSpc>
              <a:buNone/>
            </a:pPr>
            <a:r>
              <a:rPr lang="en-US" sz="2400" dirty="0">
                <a:solidFill>
                  <a:srgbClr val="D2E7D6"/>
                </a:solidFill>
                <a:latin typeface="MiSans" pitchFamily="34" charset="0"/>
                <a:ea typeface="MiSans" pitchFamily="34" charset="-122"/>
                <a:cs typeface="MiSans" pitchFamily="34" charset="-120"/>
              </a:rPr>
              <a:t>Overview</a:t>
            </a:r>
            <a:endParaRPr lang="en-US" sz="1600" dirty="0"/>
          </a:p>
        </p:txBody>
      </p:sp>
      <p:sp>
        <p:nvSpPr>
          <p:cNvPr id="13" name="Text 11"/>
          <p:cNvSpPr/>
          <p:nvPr/>
        </p:nvSpPr>
        <p:spPr>
          <a:xfrm>
            <a:off x="79692" y="1644285"/>
            <a:ext cx="3235241" cy="2090936"/>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The Home page effectively combines high-level performance indicators with trend visuals, enabling users to evaluate company performance at a glance. It acts as a launch point for deeper exploration, connecting the overall picture with detailed analysis provided in the following pages.</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9692" y="165910"/>
            <a:ext cx="6637655" cy="1623060"/>
          </a:xfrm>
          <a:prstGeom prst="rect">
            <a:avLst/>
          </a:prstGeom>
          <a:noFill/>
          <a:ln/>
        </p:spPr>
        <p:txBody>
          <a:bodyPr wrap="square" lIns="45720" tIns="45720" rIns="45720" bIns="45720" rtlCol="0" anchor="t"/>
          <a:lstStyle/>
          <a:p>
            <a:pPr indent="0" marL="0">
              <a:lnSpc>
                <a:spcPct val="100000"/>
              </a:lnSpc>
              <a:buNone/>
            </a:pPr>
            <a:r>
              <a:rPr lang="en-US" sz="3200" dirty="0">
                <a:solidFill>
                  <a:srgbClr val="77AD6F"/>
                </a:solidFill>
                <a:latin typeface="MiSans" pitchFamily="34" charset="0"/>
                <a:ea typeface="MiSans" pitchFamily="34" charset="-122"/>
                <a:cs typeface="MiSans" pitchFamily="34" charset="-120"/>
              </a:rPr>
              <a:t>Sales Page</a:t>
            </a:r>
            <a:endParaRPr lang="en-US" sz="1600" dirty="0"/>
          </a:p>
        </p:txBody>
      </p:sp>
      <p:sp>
        <p:nvSpPr>
          <p:cNvPr id="3" name="Shape 1"/>
          <p:cNvSpPr/>
          <p:nvPr/>
        </p:nvSpPr>
        <p:spPr>
          <a:xfrm>
            <a:off x="4091305" y="2061210"/>
            <a:ext cx="3862705" cy="4831080"/>
          </a:xfrm>
          <a:prstGeom prst="round2SameRect">
            <a:avLst>
              <a:gd name="adj1" fmla="val 50000"/>
              <a:gd name="adj2" fmla="val 0"/>
            </a:avLst>
          </a:prstGeom>
          <a:solidFill>
            <a:srgbClr val="D2E7D6"/>
          </a:solidFill>
          <a:ln/>
        </p:spPr>
      </p:sp>
      <p:sp>
        <p:nvSpPr>
          <p:cNvPr id="4" name="Text 2"/>
          <p:cNvSpPr/>
          <p:nvPr/>
        </p:nvSpPr>
        <p:spPr>
          <a:xfrm>
            <a:off x="4091305" y="2061210"/>
            <a:ext cx="3862705" cy="483108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Shape 3"/>
          <p:cNvSpPr/>
          <p:nvPr/>
        </p:nvSpPr>
        <p:spPr>
          <a:xfrm rot="10800000">
            <a:off x="8108124" y="7429"/>
            <a:ext cx="4087868" cy="6700163"/>
          </a:xfrm>
          <a:prstGeom prst="round2SameRect">
            <a:avLst>
              <a:gd name="adj1" fmla="val 50000"/>
              <a:gd name="adj2" fmla="val 0"/>
            </a:avLst>
          </a:prstGeom>
          <a:solidFill>
            <a:srgbClr val="77AD6F"/>
          </a:solidFill>
          <a:ln/>
        </p:spPr>
      </p:sp>
      <p:sp>
        <p:nvSpPr>
          <p:cNvPr id="6" name="Text 4"/>
          <p:cNvSpPr/>
          <p:nvPr/>
        </p:nvSpPr>
        <p:spPr>
          <a:xfrm>
            <a:off x="8420735" y="-30671"/>
            <a:ext cx="3349625"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D2E7D6"/>
                </a:solidFill>
                <a:latin typeface="MiSans" pitchFamily="34" charset="0"/>
                <a:ea typeface="MiSans" pitchFamily="34" charset="-122"/>
                <a:cs typeface="MiSans" pitchFamily="34" charset="-120"/>
              </a:rPr>
              <a:t>Visuals Used</a:t>
            </a:r>
            <a:endParaRPr lang="en-US" sz="1600" dirty="0"/>
          </a:p>
        </p:txBody>
      </p:sp>
      <p:sp>
        <p:nvSpPr>
          <p:cNvPr id="7" name="Text 5"/>
          <p:cNvSpPr/>
          <p:nvPr/>
        </p:nvSpPr>
        <p:spPr>
          <a:xfrm>
            <a:off x="8420735" y="2277110"/>
            <a:ext cx="3528695" cy="0"/>
          </a:xfrm>
          <a:prstGeom prst="rect">
            <a:avLst/>
          </a:prstGeom>
          <a:noFill/>
          <a:ln/>
        </p:spPr>
        <p:txBody>
          <a:bodyPr wrap="square" lIns="45720" tIns="45720" rIns="45720" bIns="45720" rtlCol="0" anchor="t">
            <a:spAutoFit/>
          </a:bodyPr>
          <a:lstStyle/>
          <a:p>
            <a:pPr indent="0" marL="0">
              <a:lnSpc>
                <a:spcPct val="130000"/>
              </a:lnSpc>
              <a:buNone/>
            </a:pPr>
            <a:endParaRPr lang="en-US" sz="1600" dirty="0"/>
          </a:p>
        </p:txBody>
      </p:sp>
      <p:sp>
        <p:nvSpPr>
          <p:cNvPr id="8" name="Text 6"/>
          <p:cNvSpPr/>
          <p:nvPr/>
        </p:nvSpPr>
        <p:spPr>
          <a:xfrm>
            <a:off x="4199890" y="2761615"/>
            <a:ext cx="3444240"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77AD6F"/>
                </a:solidFill>
                <a:latin typeface="MiSans" pitchFamily="34" charset="0"/>
                <a:ea typeface="MiSans" pitchFamily="34" charset="-122"/>
                <a:cs typeface="MiSans" pitchFamily="34" charset="-120"/>
              </a:rPr>
              <a:t>Purpose</a:t>
            </a:r>
            <a:endParaRPr lang="en-US" sz="1600" dirty="0"/>
          </a:p>
        </p:txBody>
      </p:sp>
      <p:sp>
        <p:nvSpPr>
          <p:cNvPr id="9" name="Text 7"/>
          <p:cNvSpPr/>
          <p:nvPr/>
        </p:nvSpPr>
        <p:spPr>
          <a:xfrm>
            <a:off x="4208145" y="3447415"/>
            <a:ext cx="3629025" cy="2587427"/>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Sales page is designed to provide a detailed breakdown of sales performance across different time periods, resellers, salespersons, and business types. It allows users to move beyond the general overview presented on the Home page and analyze specific aspects of sales distribution and contribution in greater depth.</a:t>
            </a:r>
            <a:endParaRPr lang="en-US" sz="1600" dirty="0"/>
          </a:p>
        </p:txBody>
      </p:sp>
      <p:sp>
        <p:nvSpPr>
          <p:cNvPr id="10" name="Shape 8"/>
          <p:cNvSpPr/>
          <p:nvPr/>
        </p:nvSpPr>
        <p:spPr>
          <a:xfrm flipV="1" rot="-5400000">
            <a:off x="262437" y="729433"/>
            <a:ext cx="3578288" cy="4128562"/>
          </a:xfrm>
          <a:prstGeom prst="round2SameRect">
            <a:avLst>
              <a:gd name="adj1" fmla="val 50000"/>
              <a:gd name="adj2" fmla="val 0"/>
            </a:avLst>
          </a:prstGeom>
          <a:solidFill>
            <a:srgbClr val="77AD6F"/>
          </a:solidFill>
          <a:ln/>
        </p:spPr>
      </p:sp>
      <p:sp>
        <p:nvSpPr>
          <p:cNvPr id="11" name="Text 9"/>
          <p:cNvSpPr/>
          <p:nvPr/>
        </p:nvSpPr>
        <p:spPr>
          <a:xfrm>
            <a:off x="79692" y="1099185"/>
            <a:ext cx="4055312" cy="774700"/>
          </a:xfrm>
          <a:prstGeom prst="rect">
            <a:avLst/>
          </a:prstGeom>
          <a:noFill/>
          <a:ln/>
        </p:spPr>
        <p:txBody>
          <a:bodyPr wrap="square" lIns="91440" tIns="45720" rIns="91440" bIns="45720" rtlCol="0" anchor="t"/>
          <a:lstStyle/>
          <a:p>
            <a:pPr indent="0" marL="0">
              <a:lnSpc>
                <a:spcPct val="100000"/>
              </a:lnSpc>
              <a:buNone/>
            </a:pPr>
            <a:r>
              <a:rPr lang="en-US" sz="2400" dirty="0">
                <a:solidFill>
                  <a:srgbClr val="D2E7D6"/>
                </a:solidFill>
                <a:latin typeface="MiSans" pitchFamily="34" charset="0"/>
                <a:ea typeface="MiSans" pitchFamily="34" charset="-122"/>
                <a:cs typeface="MiSans" pitchFamily="34" charset="-120"/>
              </a:rPr>
              <a:t>Overview</a:t>
            </a:r>
            <a:endParaRPr lang="en-US" sz="1600" dirty="0"/>
          </a:p>
        </p:txBody>
      </p:sp>
      <p:sp>
        <p:nvSpPr>
          <p:cNvPr id="12" name="Text 10"/>
          <p:cNvSpPr/>
          <p:nvPr/>
        </p:nvSpPr>
        <p:spPr>
          <a:xfrm>
            <a:off x="79692" y="1486535"/>
            <a:ext cx="3235241" cy="2883495"/>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This page provides a comprehensive view of sales performance drivers. Users can easily compare different years, monitor team and reseller performance, and identify where most sales are coming from. The ability to drill into specific time frames offers valuable insight into sales cycles and trends, supporting more precise performance evaluation and planning.</a:t>
            </a:r>
            <a:endParaRPr lang="en-US" sz="1600" dirty="0"/>
          </a:p>
        </p:txBody>
      </p:sp>
      <p:sp>
        <p:nvSpPr>
          <p:cNvPr id="13" name="Text 11"/>
          <p:cNvSpPr/>
          <p:nvPr/>
        </p:nvSpPr>
        <p:spPr>
          <a:xfrm>
            <a:off x="8298273" y="484346"/>
            <a:ext cx="3732970" cy="5525095"/>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This page includes several key visuals to support both trend analysis and contributor evaluation. A column chart illustrates the Sum of Sales by Year, equipped with a drill-down and drill up feature that enables users to explore data at multiple time levels  from yearly summaries down to quarters and months. This helps identify seasonal fluctuations and long term growth patterns. Complementing this, three additional charts show sales contributions by different entities. The Top 10 Resellers chart highlights the most influential retail partners, while the Top 10 Salespersons chart recognizes the leading performers within the sales team. The Sales by Business Type visual groups results by channel  such as warehouse, value added reseller, or specialty bike shop  helping assess which business types generate the most revenue.</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9692" y="165910"/>
            <a:ext cx="6637655" cy="1623060"/>
          </a:xfrm>
          <a:prstGeom prst="rect">
            <a:avLst/>
          </a:prstGeom>
          <a:noFill/>
          <a:ln/>
        </p:spPr>
        <p:txBody>
          <a:bodyPr wrap="square" lIns="45720" tIns="45720" rIns="45720" bIns="45720" rtlCol="0" anchor="t"/>
          <a:lstStyle/>
          <a:p>
            <a:pPr indent="0" marL="0">
              <a:lnSpc>
                <a:spcPct val="100000"/>
              </a:lnSpc>
              <a:buNone/>
            </a:pPr>
            <a:r>
              <a:rPr lang="en-US" sz="3200" dirty="0">
                <a:solidFill>
                  <a:srgbClr val="77AD6F"/>
                </a:solidFill>
                <a:latin typeface="MiSans" pitchFamily="34" charset="0"/>
                <a:ea typeface="MiSans" pitchFamily="34" charset="-122"/>
                <a:cs typeface="MiSans" pitchFamily="34" charset="-120"/>
              </a:rPr>
              <a:t>Products Page</a:t>
            </a:r>
            <a:endParaRPr lang="en-US" sz="1600" dirty="0"/>
          </a:p>
        </p:txBody>
      </p:sp>
      <p:sp>
        <p:nvSpPr>
          <p:cNvPr id="3" name="Shape 1"/>
          <p:cNvSpPr/>
          <p:nvPr/>
        </p:nvSpPr>
        <p:spPr>
          <a:xfrm>
            <a:off x="4065905" y="2061210"/>
            <a:ext cx="3862705" cy="4831080"/>
          </a:xfrm>
          <a:prstGeom prst="round2SameRect">
            <a:avLst>
              <a:gd name="adj1" fmla="val 50000"/>
              <a:gd name="adj2" fmla="val 0"/>
            </a:avLst>
          </a:prstGeom>
          <a:solidFill>
            <a:srgbClr val="D2E7D6"/>
          </a:solidFill>
          <a:ln/>
        </p:spPr>
      </p:sp>
      <p:sp>
        <p:nvSpPr>
          <p:cNvPr id="4" name="Text 2"/>
          <p:cNvSpPr/>
          <p:nvPr/>
        </p:nvSpPr>
        <p:spPr>
          <a:xfrm>
            <a:off x="4065905" y="2061210"/>
            <a:ext cx="3862705" cy="483108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Shape 3"/>
          <p:cNvSpPr/>
          <p:nvPr/>
        </p:nvSpPr>
        <p:spPr>
          <a:xfrm rot="10800000">
            <a:off x="8108124" y="7429"/>
            <a:ext cx="4087868" cy="6700163"/>
          </a:xfrm>
          <a:prstGeom prst="round2SameRect">
            <a:avLst>
              <a:gd name="adj1" fmla="val 50000"/>
              <a:gd name="adj2" fmla="val 0"/>
            </a:avLst>
          </a:prstGeom>
          <a:solidFill>
            <a:srgbClr val="77AD6F"/>
          </a:solidFill>
          <a:ln/>
        </p:spPr>
      </p:sp>
      <p:sp>
        <p:nvSpPr>
          <p:cNvPr id="6" name="Text 4"/>
          <p:cNvSpPr/>
          <p:nvPr/>
        </p:nvSpPr>
        <p:spPr>
          <a:xfrm>
            <a:off x="8420735" y="-30671"/>
            <a:ext cx="3349625"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D2E7D6"/>
                </a:solidFill>
                <a:latin typeface="MiSans" pitchFamily="34" charset="0"/>
                <a:ea typeface="MiSans" pitchFamily="34" charset="-122"/>
                <a:cs typeface="MiSans" pitchFamily="34" charset="-120"/>
              </a:rPr>
              <a:t>Visuals Used</a:t>
            </a:r>
            <a:endParaRPr lang="en-US" sz="1600" dirty="0"/>
          </a:p>
        </p:txBody>
      </p:sp>
      <p:sp>
        <p:nvSpPr>
          <p:cNvPr id="7" name="Text 5"/>
          <p:cNvSpPr/>
          <p:nvPr/>
        </p:nvSpPr>
        <p:spPr>
          <a:xfrm>
            <a:off x="8420735" y="2277110"/>
            <a:ext cx="3528695" cy="0"/>
          </a:xfrm>
          <a:prstGeom prst="rect">
            <a:avLst/>
          </a:prstGeom>
          <a:noFill/>
          <a:ln/>
        </p:spPr>
        <p:txBody>
          <a:bodyPr wrap="square" lIns="45720" tIns="45720" rIns="45720" bIns="45720" rtlCol="0" anchor="t">
            <a:spAutoFit/>
          </a:bodyPr>
          <a:lstStyle/>
          <a:p>
            <a:pPr indent="0" marL="0">
              <a:lnSpc>
                <a:spcPct val="130000"/>
              </a:lnSpc>
              <a:buNone/>
            </a:pPr>
            <a:endParaRPr lang="en-US" sz="1600" dirty="0"/>
          </a:p>
        </p:txBody>
      </p:sp>
      <p:sp>
        <p:nvSpPr>
          <p:cNvPr id="8" name="Text 6"/>
          <p:cNvSpPr/>
          <p:nvPr/>
        </p:nvSpPr>
        <p:spPr>
          <a:xfrm>
            <a:off x="4208145" y="2277110"/>
            <a:ext cx="3444240"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77AD6F"/>
                </a:solidFill>
                <a:latin typeface="MiSans" pitchFamily="34" charset="0"/>
                <a:ea typeface="MiSans" pitchFamily="34" charset="-122"/>
                <a:cs typeface="MiSans" pitchFamily="34" charset="-120"/>
              </a:rPr>
              <a:t>Purpose</a:t>
            </a:r>
            <a:endParaRPr lang="en-US" sz="1600" dirty="0"/>
          </a:p>
        </p:txBody>
      </p:sp>
      <p:sp>
        <p:nvSpPr>
          <p:cNvPr id="9" name="Text 7"/>
          <p:cNvSpPr/>
          <p:nvPr/>
        </p:nvSpPr>
        <p:spPr>
          <a:xfrm>
            <a:off x="4246245" y="3139297"/>
            <a:ext cx="3629025" cy="3162300"/>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Product page focuses on analyzing sales performance from a product-oriented perspective. Its main goal is to identify which product categories, individual products, and product features  such as color contribute most to total sales. This page gives decision-makers a deeper understanding of the company’s product portfolio and helps highlight high-performing items and areas for improvement.</a:t>
            </a:r>
            <a:endParaRPr lang="en-US" sz="1600" dirty="0"/>
          </a:p>
        </p:txBody>
      </p:sp>
      <p:sp>
        <p:nvSpPr>
          <p:cNvPr id="10" name="Shape 8"/>
          <p:cNvSpPr/>
          <p:nvPr/>
        </p:nvSpPr>
        <p:spPr>
          <a:xfrm flipV="1" rot="-5400000">
            <a:off x="149855" y="842015"/>
            <a:ext cx="3803452" cy="4128562"/>
          </a:xfrm>
          <a:prstGeom prst="round2SameRect">
            <a:avLst>
              <a:gd name="adj1" fmla="val 50000"/>
              <a:gd name="adj2" fmla="val 0"/>
            </a:avLst>
          </a:prstGeom>
          <a:solidFill>
            <a:srgbClr val="77AD6F"/>
          </a:solidFill>
          <a:ln/>
        </p:spPr>
      </p:sp>
      <p:sp>
        <p:nvSpPr>
          <p:cNvPr id="11" name="Text 9"/>
          <p:cNvSpPr/>
          <p:nvPr/>
        </p:nvSpPr>
        <p:spPr>
          <a:xfrm>
            <a:off x="79692" y="1099185"/>
            <a:ext cx="4055312" cy="774700"/>
          </a:xfrm>
          <a:prstGeom prst="rect">
            <a:avLst/>
          </a:prstGeom>
          <a:noFill/>
          <a:ln/>
        </p:spPr>
        <p:txBody>
          <a:bodyPr wrap="square" lIns="91440" tIns="45720" rIns="91440" bIns="45720" rtlCol="0" anchor="t"/>
          <a:lstStyle/>
          <a:p>
            <a:pPr indent="0" marL="0">
              <a:lnSpc>
                <a:spcPct val="100000"/>
              </a:lnSpc>
              <a:buNone/>
            </a:pPr>
            <a:r>
              <a:rPr lang="en-US" sz="2400" dirty="0">
                <a:solidFill>
                  <a:srgbClr val="D2E7D6"/>
                </a:solidFill>
                <a:latin typeface="MiSans" pitchFamily="34" charset="0"/>
                <a:ea typeface="MiSans" pitchFamily="34" charset="-122"/>
                <a:cs typeface="MiSans" pitchFamily="34" charset="-120"/>
              </a:rPr>
              <a:t>Overview</a:t>
            </a:r>
            <a:endParaRPr lang="en-US" sz="1600" dirty="0"/>
          </a:p>
        </p:txBody>
      </p:sp>
      <p:sp>
        <p:nvSpPr>
          <p:cNvPr id="12" name="Text 10"/>
          <p:cNvSpPr/>
          <p:nvPr/>
        </p:nvSpPr>
        <p:spPr>
          <a:xfrm>
            <a:off x="79692" y="1486535"/>
            <a:ext cx="3235241" cy="3147616"/>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Through this page, users can easily determine which products and color groups drive the majority of sales, observe category level trends, and explore deeper details through the Drill-Through function. The use of color grouping and slicers enhances interactivity and ensures that the analysis can be adapted to different perspectives, such as comparing styles or identifying top performing product segments.</a:t>
            </a:r>
            <a:endParaRPr lang="en-US" sz="1600" dirty="0"/>
          </a:p>
        </p:txBody>
      </p:sp>
      <p:sp>
        <p:nvSpPr>
          <p:cNvPr id="13" name="Text 11"/>
          <p:cNvSpPr/>
          <p:nvPr/>
        </p:nvSpPr>
        <p:spPr>
          <a:xfrm>
            <a:off x="8298273" y="484346"/>
            <a:ext cx="3732970" cy="5525095"/>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The page presents several visuals that capture product level insights in different ways. A donut chart displays the Sum of Sales by Category, giving a clear overview of which product groups dominate total sales. This visual includes a Drill-Through feature, allowing users to select a specific category and navigate to a detailed page showing more granular information related to that category. Another visual presents the Sum of Sales by Top 10 Products, making it easy to identify the best-selling items in the dataset. Additionally, a stacked bar chart illustrates the Sum of Sales by Color, where colors have been grouped into three main categories  Dark, Light, and Other  to simplify interpretation and pattern recognition. A slicer is also provided, enabling users to filter results and focus on specific categories or product attributes of interest.</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9692" y="165910"/>
            <a:ext cx="6637655" cy="1623060"/>
          </a:xfrm>
          <a:prstGeom prst="rect">
            <a:avLst/>
          </a:prstGeom>
          <a:noFill/>
          <a:ln/>
        </p:spPr>
        <p:txBody>
          <a:bodyPr wrap="square" lIns="45720" tIns="45720" rIns="45720" bIns="45720" rtlCol="0" anchor="t"/>
          <a:lstStyle/>
          <a:p>
            <a:pPr indent="0" marL="0">
              <a:lnSpc>
                <a:spcPct val="100000"/>
              </a:lnSpc>
              <a:buNone/>
            </a:pPr>
            <a:r>
              <a:rPr lang="en-US" sz="3200" dirty="0">
                <a:solidFill>
                  <a:srgbClr val="77AD6F"/>
                </a:solidFill>
                <a:latin typeface="MiSans" pitchFamily="34" charset="0"/>
                <a:ea typeface="MiSans" pitchFamily="34" charset="-122"/>
                <a:cs typeface="MiSans" pitchFamily="34" charset="-120"/>
              </a:rPr>
              <a:t>Maps Page</a:t>
            </a:r>
            <a:endParaRPr lang="en-US" sz="1600" dirty="0"/>
          </a:p>
        </p:txBody>
      </p:sp>
      <p:sp>
        <p:nvSpPr>
          <p:cNvPr id="3" name="Shape 1"/>
          <p:cNvSpPr/>
          <p:nvPr/>
        </p:nvSpPr>
        <p:spPr>
          <a:xfrm>
            <a:off x="4167505" y="2061210"/>
            <a:ext cx="3862705" cy="4831080"/>
          </a:xfrm>
          <a:prstGeom prst="round2SameRect">
            <a:avLst>
              <a:gd name="adj1" fmla="val 50000"/>
              <a:gd name="adj2" fmla="val 0"/>
            </a:avLst>
          </a:prstGeom>
          <a:solidFill>
            <a:srgbClr val="D2E7D6"/>
          </a:solidFill>
          <a:ln/>
        </p:spPr>
      </p:sp>
      <p:sp>
        <p:nvSpPr>
          <p:cNvPr id="4" name="Text 2"/>
          <p:cNvSpPr/>
          <p:nvPr/>
        </p:nvSpPr>
        <p:spPr>
          <a:xfrm>
            <a:off x="4167505" y="2061210"/>
            <a:ext cx="3862705" cy="483108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Shape 3"/>
          <p:cNvSpPr/>
          <p:nvPr/>
        </p:nvSpPr>
        <p:spPr>
          <a:xfrm rot="10800000">
            <a:off x="8108124" y="7429"/>
            <a:ext cx="4087868" cy="6700163"/>
          </a:xfrm>
          <a:prstGeom prst="round2SameRect">
            <a:avLst>
              <a:gd name="adj1" fmla="val 50000"/>
              <a:gd name="adj2" fmla="val 0"/>
            </a:avLst>
          </a:prstGeom>
          <a:solidFill>
            <a:srgbClr val="77AD6F"/>
          </a:solidFill>
          <a:ln/>
        </p:spPr>
      </p:sp>
      <p:sp>
        <p:nvSpPr>
          <p:cNvPr id="6" name="Text 4"/>
          <p:cNvSpPr/>
          <p:nvPr/>
        </p:nvSpPr>
        <p:spPr>
          <a:xfrm>
            <a:off x="8420735" y="-30671"/>
            <a:ext cx="3349625"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D2E7D6"/>
                </a:solidFill>
                <a:latin typeface="MiSans" pitchFamily="34" charset="0"/>
                <a:ea typeface="MiSans" pitchFamily="34" charset="-122"/>
                <a:cs typeface="MiSans" pitchFamily="34" charset="-120"/>
              </a:rPr>
              <a:t>Visuals Used</a:t>
            </a:r>
            <a:endParaRPr lang="en-US" sz="1600" dirty="0"/>
          </a:p>
        </p:txBody>
      </p:sp>
      <p:sp>
        <p:nvSpPr>
          <p:cNvPr id="7" name="Text 5"/>
          <p:cNvSpPr/>
          <p:nvPr/>
        </p:nvSpPr>
        <p:spPr>
          <a:xfrm>
            <a:off x="8420735" y="2277110"/>
            <a:ext cx="3528695" cy="0"/>
          </a:xfrm>
          <a:prstGeom prst="rect">
            <a:avLst/>
          </a:prstGeom>
          <a:noFill/>
          <a:ln/>
        </p:spPr>
        <p:txBody>
          <a:bodyPr wrap="square" lIns="45720" tIns="45720" rIns="45720" bIns="45720" rtlCol="0" anchor="t">
            <a:spAutoFit/>
          </a:bodyPr>
          <a:lstStyle/>
          <a:p>
            <a:pPr indent="0" marL="0">
              <a:lnSpc>
                <a:spcPct val="130000"/>
              </a:lnSpc>
              <a:buNone/>
            </a:pPr>
            <a:endParaRPr lang="en-US" sz="1600" dirty="0"/>
          </a:p>
        </p:txBody>
      </p:sp>
      <p:sp>
        <p:nvSpPr>
          <p:cNvPr id="8" name="Text 6"/>
          <p:cNvSpPr/>
          <p:nvPr/>
        </p:nvSpPr>
        <p:spPr>
          <a:xfrm>
            <a:off x="4208145" y="2277110"/>
            <a:ext cx="3444240" cy="1371600"/>
          </a:xfrm>
          <a:prstGeom prst="rect">
            <a:avLst/>
          </a:prstGeom>
          <a:noFill/>
          <a:ln/>
        </p:spPr>
        <p:txBody>
          <a:bodyPr wrap="square" lIns="45720" tIns="45720" rIns="45720" bIns="45720" rtlCol="0" anchor="t"/>
          <a:lstStyle/>
          <a:p>
            <a:pPr algn="ctr" indent="0" marL="0">
              <a:lnSpc>
                <a:spcPct val="130000"/>
              </a:lnSpc>
              <a:buNone/>
            </a:pPr>
            <a:r>
              <a:rPr lang="en-US" sz="2400" dirty="0">
                <a:solidFill>
                  <a:srgbClr val="77AD6F"/>
                </a:solidFill>
                <a:latin typeface="MiSans" pitchFamily="34" charset="0"/>
                <a:ea typeface="MiSans" pitchFamily="34" charset="-122"/>
                <a:cs typeface="MiSans" pitchFamily="34" charset="-120"/>
              </a:rPr>
              <a:t>Purpose</a:t>
            </a:r>
            <a:endParaRPr lang="en-US" sz="1600" dirty="0"/>
          </a:p>
        </p:txBody>
      </p:sp>
      <p:sp>
        <p:nvSpPr>
          <p:cNvPr id="9" name="Text 7"/>
          <p:cNvSpPr/>
          <p:nvPr/>
        </p:nvSpPr>
        <p:spPr>
          <a:xfrm>
            <a:off x="4322445" y="3202797"/>
            <a:ext cx="3629025" cy="2587427"/>
          </a:xfrm>
          <a:prstGeom prst="rect">
            <a:avLst/>
          </a:prstGeom>
          <a:noFill/>
          <a:ln/>
        </p:spPr>
        <p:txBody>
          <a:bodyPr wrap="square" lIns="45720" tIns="45720" rIns="45720" bIns="45720" rtlCol="0" anchor="t">
            <a:spAutoFit/>
          </a:bodyPr>
          <a:lstStyle/>
          <a:p>
            <a:pPr indent="0" marL="0">
              <a:lnSpc>
                <a:spcPct val="130000"/>
              </a:lnSpc>
              <a:buNone/>
            </a:pPr>
            <a:r>
              <a:rPr lang="en-US" sz="1400" dirty="0">
                <a:solidFill>
                  <a:srgbClr val="000000"/>
                </a:solidFill>
                <a:latin typeface="MiSans" pitchFamily="34" charset="0"/>
                <a:ea typeface="MiSans" pitchFamily="34" charset="-122"/>
                <a:cs typeface="MiSans" pitchFamily="34" charset="-120"/>
              </a:rPr>
              <a:t>The Map page is designed to visualize the company’s sales performance from a geographical perspective. Its main goal is to identify how sales are distributed across different regions and to help recognize the markets that contribute most to total revenue. This spatial analysis supports strategic decisions regarding regional sales focus, marketing, and resource allocation.</a:t>
            </a:r>
            <a:endParaRPr lang="en-US" sz="1600" dirty="0"/>
          </a:p>
        </p:txBody>
      </p:sp>
      <p:sp>
        <p:nvSpPr>
          <p:cNvPr id="10" name="Shape 8"/>
          <p:cNvSpPr/>
          <p:nvPr/>
        </p:nvSpPr>
        <p:spPr>
          <a:xfrm flipV="1" rot="-5400000">
            <a:off x="-181965" y="1173835"/>
            <a:ext cx="4467091" cy="4128562"/>
          </a:xfrm>
          <a:prstGeom prst="round2SameRect">
            <a:avLst>
              <a:gd name="adj1" fmla="val 50000"/>
              <a:gd name="adj2" fmla="val 0"/>
            </a:avLst>
          </a:prstGeom>
          <a:solidFill>
            <a:srgbClr val="77AD6F"/>
          </a:solidFill>
          <a:ln/>
        </p:spPr>
      </p:sp>
      <p:sp>
        <p:nvSpPr>
          <p:cNvPr id="11" name="Text 9"/>
          <p:cNvSpPr/>
          <p:nvPr/>
        </p:nvSpPr>
        <p:spPr>
          <a:xfrm>
            <a:off x="79692" y="1099185"/>
            <a:ext cx="4055312" cy="774700"/>
          </a:xfrm>
          <a:prstGeom prst="rect">
            <a:avLst/>
          </a:prstGeom>
          <a:noFill/>
          <a:ln/>
        </p:spPr>
        <p:txBody>
          <a:bodyPr wrap="square" lIns="91440" tIns="45720" rIns="91440" bIns="45720" rtlCol="0" anchor="t"/>
          <a:lstStyle/>
          <a:p>
            <a:pPr indent="0" marL="0">
              <a:lnSpc>
                <a:spcPct val="100000"/>
              </a:lnSpc>
              <a:buNone/>
            </a:pPr>
            <a:r>
              <a:rPr lang="en-US" sz="2400" dirty="0">
                <a:solidFill>
                  <a:srgbClr val="D2E7D6"/>
                </a:solidFill>
                <a:latin typeface="MiSans" pitchFamily="34" charset="0"/>
                <a:ea typeface="MiSans" pitchFamily="34" charset="-122"/>
                <a:cs typeface="MiSans" pitchFamily="34" charset="-120"/>
              </a:rPr>
              <a:t>Overview</a:t>
            </a:r>
            <a:endParaRPr lang="en-US" sz="1600" dirty="0"/>
          </a:p>
        </p:txBody>
      </p:sp>
      <p:sp>
        <p:nvSpPr>
          <p:cNvPr id="12" name="Text 10"/>
          <p:cNvSpPr/>
          <p:nvPr/>
        </p:nvSpPr>
        <p:spPr>
          <a:xfrm>
            <a:off x="79692" y="1486535"/>
            <a:ext cx="3235241" cy="3675856"/>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The Map page enables users to quickly pinpoint top-performing regions and identify areas where sales are comparatively lower. The ability to drill into countries and view detailed state- and city-level sales patterns provides a valuable perspective for understanding geographic market distribution. This interactive map supports decision-making by revealing regional strengths and helping guide strategies for expansion, marketing, and resource targeting.</a:t>
            </a:r>
            <a:endParaRPr lang="en-US" sz="1600" dirty="0"/>
          </a:p>
        </p:txBody>
      </p:sp>
      <p:sp>
        <p:nvSpPr>
          <p:cNvPr id="13" name="Text 11"/>
          <p:cNvSpPr/>
          <p:nvPr/>
        </p:nvSpPr>
        <p:spPr>
          <a:xfrm>
            <a:off x="8298273" y="484346"/>
            <a:ext cx="3732970" cy="4996656"/>
          </a:xfrm>
          <a:prstGeom prst="rect">
            <a:avLst/>
          </a:prstGeom>
          <a:noFill/>
          <a:ln/>
        </p:spPr>
        <p:txBody>
          <a:bodyPr wrap="square" lIns="91440" tIns="45720" rIns="91440" bIns="45720" rtlCol="0" anchor="t">
            <a:spAutoFit/>
          </a:bodyPr>
          <a:lstStyle/>
          <a:p>
            <a:pPr indent="0" marL="0">
              <a:lnSpc>
                <a:spcPct val="100000"/>
              </a:lnSpc>
              <a:buNone/>
            </a:pPr>
            <a:r>
              <a:rPr lang="en-US" sz="1400" dirty="0">
                <a:solidFill>
                  <a:srgbClr val="000000"/>
                </a:solidFill>
                <a:latin typeface="MiSans" pitchFamily="34" charset="0"/>
                <a:ea typeface="MiSans" pitchFamily="34" charset="-122"/>
                <a:cs typeface="MiSans" pitchFamily="34" charset="-120"/>
              </a:rPr>
              <a:t>The page primarily features an interactive map visual that displays the Sum of Sales by Country-Region. Users can interact with the map to explore sales across different geographical areas. By selecting a specific country, the map dynamically updates to show a more detailed breakdown of Sales by State and Sales by City within that country. This layered design allows users to analyze both global performance and localized market trends within a single visual environment. Additional navigation buttons are included to maintain consistency with other pages, allowing users to easily return to the Home page. The map’s interactivity helps transform complex regional data into a clear, visual representation that highlights variations in sales volume and regional importance.</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77AD6F"/>
        </a:solidFill>
      </p:bgPr>
    </p:bg>
    <p:spTree>
      <p:nvGrpSpPr>
        <p:cNvPr id="1" name=""/>
        <p:cNvGrpSpPr/>
        <p:nvPr/>
      </p:nvGrpSpPr>
      <p:grpSpPr>
        <a:xfrm>
          <a:off x="0" y="0"/>
          <a:ext cx="0" cy="0"/>
          <a:chOff x="0" y="0"/>
          <a:chExt cx="0" cy="0"/>
        </a:xfrm>
      </p:grpSpPr>
      <p:sp>
        <p:nvSpPr>
          <p:cNvPr id="2" name="Shape 0"/>
          <p:cNvSpPr/>
          <p:nvPr/>
        </p:nvSpPr>
        <p:spPr>
          <a:xfrm>
            <a:off x="3422015" y="726440"/>
            <a:ext cx="5753602" cy="5753602"/>
          </a:xfrm>
          <a:prstGeom prst="ellipse">
            <a:avLst/>
          </a:prstGeom>
          <a:solidFill>
            <a:srgbClr val="D2E7D6"/>
          </a:solidFill>
          <a:ln/>
        </p:spPr>
      </p:sp>
      <p:sp>
        <p:nvSpPr>
          <p:cNvPr id="3" name="Text 1"/>
          <p:cNvSpPr/>
          <p:nvPr/>
        </p:nvSpPr>
        <p:spPr>
          <a:xfrm>
            <a:off x="3422015" y="726440"/>
            <a:ext cx="5753602" cy="5753602"/>
          </a:xfrm>
          <a:prstGeom prst="rect">
            <a:avLst/>
          </a:prstGeom>
          <a:noFill/>
          <a:ln/>
        </p:spPr>
        <p:txBody>
          <a:bodyPr wrap="square" lIns="0" tIns="0" rIns="0" bIns="0" rtlCol="0" anchor="t"/>
          <a:lstStyle/>
          <a:p>
            <a:pPr indent="0" marL="0">
              <a:lnSpc>
                <a:spcPct val="100000"/>
              </a:lnSpc>
              <a:buNone/>
            </a:pPr>
            <a:endParaRPr lang="en-US" sz="1600" dirty="0"/>
          </a:p>
        </p:txBody>
      </p:sp>
      <p:sp>
        <p:nvSpPr>
          <p:cNvPr id="4" name="Text 2"/>
          <p:cNvSpPr/>
          <p:nvPr/>
        </p:nvSpPr>
        <p:spPr>
          <a:xfrm>
            <a:off x="3575490" y="3468524"/>
            <a:ext cx="5445515" cy="1887172"/>
          </a:xfrm>
          <a:prstGeom prst="rect">
            <a:avLst/>
          </a:prstGeom>
          <a:noFill/>
          <a:ln/>
        </p:spPr>
        <p:txBody>
          <a:bodyPr wrap="square" lIns="0" tIns="0" rIns="0" bIns="0" rtlCol="0" anchor="t"/>
          <a:lstStyle/>
          <a:p>
            <a:pPr algn="ctr" indent="0" marL="0">
              <a:lnSpc>
                <a:spcPct val="100000"/>
              </a:lnSpc>
              <a:buNone/>
            </a:pPr>
            <a:r>
              <a:rPr lang="en-US" sz="4400" dirty="0">
                <a:solidFill>
                  <a:srgbClr val="000000"/>
                </a:solidFill>
                <a:latin typeface="MiSans" pitchFamily="34" charset="0"/>
                <a:ea typeface="MiSans" pitchFamily="34" charset="-122"/>
                <a:cs typeface="MiSans" pitchFamily="34" charset="-120"/>
              </a:rPr>
              <a:t>Overall Insights and Conclusion</a:t>
            </a:r>
            <a:endParaRPr lang="en-US" sz="1600" dirty="0"/>
          </a:p>
        </p:txBody>
      </p:sp>
      <p:sp>
        <p:nvSpPr>
          <p:cNvPr id="5" name="Text 3"/>
          <p:cNvSpPr/>
          <p:nvPr/>
        </p:nvSpPr>
        <p:spPr>
          <a:xfrm>
            <a:off x="3575490" y="1609773"/>
            <a:ext cx="5445515" cy="1887172"/>
          </a:xfrm>
          <a:prstGeom prst="rect">
            <a:avLst/>
          </a:prstGeom>
          <a:noFill/>
          <a:ln/>
        </p:spPr>
        <p:txBody>
          <a:bodyPr wrap="square" lIns="0" tIns="0" rIns="0" bIns="0" rtlCol="0" anchor="t"/>
          <a:lstStyle/>
          <a:p>
            <a:pPr algn="ctr" indent="0" marL="0">
              <a:lnSpc>
                <a:spcPct val="100000"/>
              </a:lnSpc>
              <a:buNone/>
            </a:pPr>
            <a:r>
              <a:rPr lang="en-US" sz="9600" b="1" dirty="0">
                <a:solidFill>
                  <a:srgbClr val="77AD6F"/>
                </a:solidFill>
                <a:latin typeface="MiSans" pitchFamily="34" charset="0"/>
                <a:ea typeface="MiSans" pitchFamily="34" charset="-122"/>
                <a:cs typeface="MiSans" pitchFamily="34" charset="-120"/>
              </a:rPr>
              <a:t>06</a:t>
            </a:r>
            <a:endParaRPr lang="en-US" sz="1600" dirty="0"/>
          </a:p>
        </p:txBody>
      </p:sp>
      <p:sp>
        <p:nvSpPr>
          <p:cNvPr id="6" name="Shape 4"/>
          <p:cNvSpPr/>
          <p:nvPr/>
        </p:nvSpPr>
        <p:spPr>
          <a:xfrm>
            <a:off x="-970280" y="-1332230"/>
            <a:ext cx="4229735" cy="4229735"/>
          </a:xfrm>
          <a:prstGeom prst="ellipse">
            <a:avLst/>
          </a:prstGeom>
          <a:solidFill>
            <a:srgbClr val="D2E7D6"/>
          </a:solidFill>
          <a:ln/>
        </p:spPr>
      </p:sp>
      <p:sp>
        <p:nvSpPr>
          <p:cNvPr id="7" name="Text 5"/>
          <p:cNvSpPr/>
          <p:nvPr/>
        </p:nvSpPr>
        <p:spPr>
          <a:xfrm>
            <a:off x="-97028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8" name="Shape 6"/>
          <p:cNvSpPr/>
          <p:nvPr/>
        </p:nvSpPr>
        <p:spPr>
          <a:xfrm>
            <a:off x="-970280" y="4128770"/>
            <a:ext cx="4229735" cy="4229735"/>
          </a:xfrm>
          <a:prstGeom prst="ellipse">
            <a:avLst/>
          </a:prstGeom>
          <a:solidFill>
            <a:srgbClr val="D2E7D6"/>
          </a:solidFill>
          <a:ln/>
        </p:spPr>
      </p:sp>
      <p:sp>
        <p:nvSpPr>
          <p:cNvPr id="9" name="Text 7"/>
          <p:cNvSpPr/>
          <p:nvPr/>
        </p:nvSpPr>
        <p:spPr>
          <a:xfrm>
            <a:off x="-97028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0" name="Shape 8"/>
          <p:cNvSpPr/>
          <p:nvPr/>
        </p:nvSpPr>
        <p:spPr>
          <a:xfrm>
            <a:off x="9519920" y="-1332230"/>
            <a:ext cx="4229735" cy="4229735"/>
          </a:xfrm>
          <a:prstGeom prst="ellipse">
            <a:avLst/>
          </a:prstGeom>
          <a:solidFill>
            <a:srgbClr val="D2E7D6"/>
          </a:solidFill>
          <a:ln/>
        </p:spPr>
      </p:sp>
      <p:sp>
        <p:nvSpPr>
          <p:cNvPr id="11" name="Text 9"/>
          <p:cNvSpPr/>
          <p:nvPr/>
        </p:nvSpPr>
        <p:spPr>
          <a:xfrm>
            <a:off x="9519920" y="-133223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
        <p:nvSpPr>
          <p:cNvPr id="12" name="Shape 10"/>
          <p:cNvSpPr/>
          <p:nvPr/>
        </p:nvSpPr>
        <p:spPr>
          <a:xfrm>
            <a:off x="9519920" y="4128770"/>
            <a:ext cx="4229735" cy="4229735"/>
          </a:xfrm>
          <a:prstGeom prst="ellipse">
            <a:avLst/>
          </a:prstGeom>
          <a:solidFill>
            <a:srgbClr val="D2E7D6"/>
          </a:solidFill>
          <a:ln/>
        </p:spPr>
      </p:sp>
      <p:sp>
        <p:nvSpPr>
          <p:cNvPr id="13" name="Text 11"/>
          <p:cNvSpPr/>
          <p:nvPr/>
        </p:nvSpPr>
        <p:spPr>
          <a:xfrm>
            <a:off x="9519920" y="4128770"/>
            <a:ext cx="4229735" cy="4229735"/>
          </a:xfrm>
          <a:prstGeom prst="rect">
            <a:avLst/>
          </a:prstGeom>
          <a:noFill/>
          <a:ln/>
        </p:spPr>
        <p:txBody>
          <a:bodyPr wrap="square" lIns="0" tIns="0" rIns="0" bIns="0" rtlCol="0" anchor="t"/>
          <a:lstStyle/>
          <a:p>
            <a:pPr indent="0" marL="0">
              <a:lnSpc>
                <a:spcPct val="100000"/>
              </a:lnSpc>
              <a:buNone/>
            </a:pP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77AD6F"/>
        </a:solidFill>
      </p:bgPr>
    </p:bg>
    <p:spTree>
      <p:nvGrpSpPr>
        <p:cNvPr id="1" name=""/>
        <p:cNvGrpSpPr/>
        <p:nvPr/>
      </p:nvGrpSpPr>
      <p:grpSpPr>
        <a:xfrm>
          <a:off x="0" y="0"/>
          <a:ext cx="0" cy="0"/>
          <a:chOff x="0" y="0"/>
          <a:chExt cx="0" cy="0"/>
        </a:xfrm>
      </p:grpSpPr>
      <p:sp>
        <p:nvSpPr>
          <p:cNvPr id="2" name="Text 0"/>
          <p:cNvSpPr/>
          <p:nvPr/>
        </p:nvSpPr>
        <p:spPr>
          <a:xfrm>
            <a:off x="2041525" y="1256956"/>
            <a:ext cx="8136255" cy="1532255"/>
          </a:xfrm>
          <a:prstGeom prst="rect">
            <a:avLst/>
          </a:prstGeom>
          <a:noFill/>
          <a:ln/>
        </p:spPr>
        <p:txBody>
          <a:bodyPr wrap="square" lIns="0" tIns="0" rIns="0" bIns="0" rtlCol="0" anchor="t"/>
          <a:lstStyle/>
          <a:p>
            <a:pPr indent="0" marL="0">
              <a:lnSpc>
                <a:spcPct val="130000"/>
              </a:lnSpc>
              <a:buNone/>
            </a:pPr>
            <a:r>
              <a:rPr lang="en-US" sz="1600" dirty="0">
                <a:solidFill>
                  <a:srgbClr val="FFFFFF"/>
                </a:solidFill>
                <a:latin typeface="MiSans" pitchFamily="34" charset="0"/>
                <a:ea typeface="MiSans" pitchFamily="34" charset="-122"/>
                <a:cs typeface="MiSans" pitchFamily="34" charset="-120"/>
              </a:rPr>
              <a:t>T</a:t>
            </a:r>
            <a:pPr indent="0" marL="0">
              <a:lnSpc>
                <a:spcPct val="130000"/>
              </a:lnSpc>
              <a:buNone/>
            </a:pPr>
            <a:r>
              <a:rPr lang="en-US" sz="1400" dirty="0">
                <a:solidFill>
                  <a:srgbClr val="FFFFFF"/>
                </a:solidFill>
                <a:latin typeface="MiSans" pitchFamily="34" charset="0"/>
                <a:ea typeface="MiSans" pitchFamily="34" charset="-122"/>
                <a:cs typeface="MiSans" pitchFamily="34" charset="-120"/>
              </a:rPr>
              <a:t>he Adventure Works 2020 dashboard successfully transforms raw sales data into clear, interactive insights. It enables users to track overall performance, explore detailed sales behavior, and analyze results by product and region all within a connected and easy-to-navigate report.</a:t>
            </a:r>
            <a:endParaRPr lang="en-US" sz="1600" dirty="0"/>
          </a:p>
          <a:p>
            <a:pPr indent="0" marL="0">
              <a:lnSpc>
                <a:spcPct val="130000"/>
              </a:lnSpc>
              <a:buNone/>
            </a:pPr>
            <a:r>
              <a:rPr lang="en-US" sz="1400" dirty="0">
                <a:solidFill>
                  <a:srgbClr val="FFFFFF"/>
                </a:solidFill>
                <a:latin typeface="MiSans" pitchFamily="34" charset="0"/>
                <a:ea typeface="MiSans" pitchFamily="34" charset="-122"/>
                <a:cs typeface="MiSans" pitchFamily="34" charset="-120"/>
              </a:rPr>
              <a:t>By integrating features like Drill-Through, Visual Tooltip, and Drill-Down, the report encourages exploration and deeper understanding of trends. The inclusion of a mobile layout further improves accessibility and usability.</a:t>
            </a:r>
            <a:endParaRPr lang="en-US" sz="1600" dirty="0"/>
          </a:p>
          <a:p>
            <a:pPr indent="0" marL="0">
              <a:lnSpc>
                <a:spcPct val="130000"/>
              </a:lnSpc>
              <a:buNone/>
            </a:pPr>
            <a:r>
              <a:rPr lang="en-US" sz="1400" dirty="0">
                <a:solidFill>
                  <a:srgbClr val="FFFFFF"/>
                </a:solidFill>
                <a:latin typeface="MiSans" pitchFamily="34" charset="0"/>
                <a:ea typeface="MiSans" pitchFamily="34" charset="-122"/>
                <a:cs typeface="MiSans" pitchFamily="34" charset="-120"/>
              </a:rPr>
              <a:t>Overall, the project demonstrates how Power BI can be used to create a professional, data driven reporting system that supports business monitoring, performance evaluation, and decision-making.</a:t>
            </a:r>
            <a:endParaRPr lang="en-US" sz="1600" dirty="0"/>
          </a:p>
        </p:txBody>
      </p:sp>
      <p:sp>
        <p:nvSpPr>
          <p:cNvPr id="3" name="Text 1"/>
          <p:cNvSpPr/>
          <p:nvPr/>
        </p:nvSpPr>
        <p:spPr>
          <a:xfrm>
            <a:off x="2041525" y="186863"/>
            <a:ext cx="8108950" cy="937260"/>
          </a:xfrm>
          <a:prstGeom prst="rect">
            <a:avLst/>
          </a:prstGeom>
          <a:noFill/>
          <a:ln/>
        </p:spPr>
        <p:txBody>
          <a:bodyPr wrap="square" lIns="0" tIns="0" rIns="0" bIns="0" rtlCol="0" anchor="t"/>
          <a:lstStyle/>
          <a:p>
            <a:pPr algn="ctr" indent="0" marL="0">
              <a:lnSpc>
                <a:spcPct val="100000"/>
              </a:lnSpc>
              <a:buNone/>
            </a:pPr>
            <a:r>
              <a:rPr lang="en-US" sz="3600" dirty="0">
                <a:solidFill>
                  <a:srgbClr val="FFFF3A"/>
                </a:solidFill>
                <a:latin typeface="MiSans" pitchFamily="34" charset="0"/>
                <a:ea typeface="MiSans" pitchFamily="34" charset="-122"/>
                <a:cs typeface="MiSans" pitchFamily="34" charset="-120"/>
              </a:rPr>
              <a:t>Conclusion</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77AD6F"/>
        </a:solidFill>
      </p:bgPr>
    </p:bg>
    <p:spTree>
      <p:nvGrpSpPr>
        <p:cNvPr id="1" name=""/>
        <p:cNvGrpSpPr/>
        <p:nvPr/>
      </p:nvGrpSpPr>
      <p:grpSpPr>
        <a:xfrm>
          <a:off x="0" y="0"/>
          <a:ext cx="0" cy="0"/>
          <a:chOff x="0" y="0"/>
          <a:chExt cx="0" cy="0"/>
        </a:xfrm>
      </p:grpSpPr>
      <p:pic>
        <p:nvPicPr>
          <p:cNvPr id="2" name="Image 0" descr="https://kimi-img.moonshot.cn/pub/slides/slides_tmpl/image/25-08-27-20:03:17-d2nf8198bjvh7rlj08tg.png">    </p:cNvPr>
          <p:cNvPicPr>
            <a:picLocks noChangeAspect="1"/>
          </p:cNvPicPr>
          <p:nvPr/>
        </p:nvPicPr>
        <p:blipFill>
          <a:blip r:embed="rId1"/>
          <a:srcRect l="5266" r="5667" t="24656" b="24531"/>
          <a:stretch/>
        </p:blipFill>
        <p:spPr>
          <a:xfrm>
            <a:off x="-184785" y="-172085"/>
            <a:ext cx="12554585" cy="7219950"/>
          </a:xfrm>
          <a:prstGeom prst="rect">
            <a:avLst/>
          </a:prstGeom>
        </p:spPr>
      </p:pic>
      <p:sp>
        <p:nvSpPr>
          <p:cNvPr id="3" name="Text 0"/>
          <p:cNvSpPr/>
          <p:nvPr/>
        </p:nvSpPr>
        <p:spPr>
          <a:xfrm>
            <a:off x="2338070" y="1781810"/>
            <a:ext cx="7515860" cy="2468761"/>
          </a:xfrm>
          <a:prstGeom prst="rect">
            <a:avLst/>
          </a:prstGeom>
          <a:noFill/>
          <a:ln/>
        </p:spPr>
        <p:txBody>
          <a:bodyPr wrap="square" lIns="0" tIns="0" rIns="0" bIns="0" rtlCol="0" anchor="t">
            <a:spAutoFit/>
          </a:bodyPr>
          <a:lstStyle/>
          <a:p>
            <a:pPr algn="ctr" indent="0" marL="0">
              <a:lnSpc>
                <a:spcPct val="100000"/>
              </a:lnSpc>
              <a:buNone/>
            </a:pPr>
            <a:r>
              <a:rPr lang="en-US" sz="8000" b="1" dirty="0">
                <a:solidFill>
                  <a:srgbClr val="000000"/>
                </a:solidFill>
                <a:latin typeface="MiSans" pitchFamily="34" charset="0"/>
                <a:ea typeface="MiSans" pitchFamily="34" charset="-122"/>
                <a:cs typeface="MiSans" pitchFamily="34" charset="-120"/>
              </a:rPr>
              <a:t>THANK</a:t>
            </a:r>
            <a:endParaRPr lang="en-US" sz="1600" dirty="0"/>
          </a:p>
          <a:p>
            <a:pPr algn="ctr" indent="0" marL="0">
              <a:lnSpc>
                <a:spcPct val="100000"/>
              </a:lnSpc>
              <a:buNone/>
            </a:pPr>
            <a:r>
              <a:rPr lang="en-US" sz="8000" b="1" dirty="0">
                <a:solidFill>
                  <a:srgbClr val="000000"/>
                </a:solidFill>
                <a:latin typeface="MiSans" pitchFamily="34" charset="0"/>
                <a:ea typeface="MiSans" pitchFamily="34" charset="-122"/>
                <a:cs typeface="MiSans" pitchFamily="34" charset="-120"/>
              </a:rPr>
              <a:t>YOU</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E6E6E6"/>
      </a:dk2>
      <a:lt2>
        <a:srgbClr val="FFFFFF"/>
      </a:lt2>
      <a:accent1>
        <a:srgbClr val="77AD6F"/>
      </a:accent1>
      <a:accent2>
        <a:srgbClr val="D2E7D6"/>
      </a:accent2>
      <a:accent3>
        <a:srgbClr val="000000"/>
      </a:accent3>
      <a:accent4>
        <a:srgbClr val="0094DB"/>
      </a:accent4>
      <a:accent5>
        <a:srgbClr val="ADDDFE"/>
      </a:accent5>
      <a:accent6>
        <a:srgbClr val="007CC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 Works 2020 BI Deep Dive</dc:title>
  <dc:subject>Adventure Works 2020 BI Deep Dive</dc:subject>
  <dc:creator>Kimi</dc:creator>
  <cp:lastModifiedBy>Kimi</cp:lastModifiedBy>
  <cp:revision>1</cp:revision>
  <dcterms:created xsi:type="dcterms:W3CDTF">2025-11-02T07:32:00Z</dcterms:created>
  <dcterms:modified xsi:type="dcterms:W3CDTF">2025-11-02T07:32:00Z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{"Label":"Adventure Works 2020 BI Deep Dive","ContentProducer":"001191110108MACG2KBH8F10000","ProduceID":"d42rl8kq5kvkur1qnck0","ReservedCode1":"","ContentPropagator":"001191110108MACG2KBH8F20000","PropagateID":"d42rl8kq5kvkur1qnck0","ReservedCode2":""}</vt:lpwstr>
  </property>
</Properties>
</file>